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80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601" autoAdjust="0"/>
  </p:normalViewPr>
  <p:slideViewPr>
    <p:cSldViewPr snapToGrid="0">
      <p:cViewPr varScale="1">
        <p:scale>
          <a:sx n="56" d="100"/>
          <a:sy n="56" d="100"/>
        </p:scale>
        <p:origin x="10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8AE03A-0F4C-400F-BB54-88618D34051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F3988FA-9142-461A-9581-E634EE53EA7C}">
      <dgm:prSet phldrT="[Text]"/>
      <dgm:spPr/>
      <dgm:t>
        <a:bodyPr/>
        <a:lstStyle/>
        <a:p>
          <a:r>
            <a:rPr lang="en-US" dirty="0"/>
            <a:t>Identify turnover patterns and at-risk employee groups</a:t>
          </a:r>
          <a:endParaRPr lang="en-GB" dirty="0"/>
        </a:p>
      </dgm:t>
    </dgm:pt>
    <dgm:pt modelId="{5FFA7C01-79D1-4D16-B9C8-42F58CD0CBF6}" type="parTrans" cxnId="{97957DFD-344A-4BFD-AC40-0F152F06DF52}">
      <dgm:prSet/>
      <dgm:spPr/>
      <dgm:t>
        <a:bodyPr/>
        <a:lstStyle/>
        <a:p>
          <a:endParaRPr lang="en-GB"/>
        </a:p>
      </dgm:t>
    </dgm:pt>
    <dgm:pt modelId="{902BD9E0-A76D-49EE-BBF5-1692575632DE}" type="sibTrans" cxnId="{97957DFD-344A-4BFD-AC40-0F152F06DF52}">
      <dgm:prSet phldrT="2" phldr="0"/>
      <dgm:spPr/>
      <dgm:t>
        <a:bodyPr/>
        <a:lstStyle/>
        <a:p>
          <a:endParaRPr lang="en-GB" dirty="0"/>
        </a:p>
      </dgm:t>
    </dgm:pt>
    <dgm:pt modelId="{B517A2AB-94FA-47C4-87BB-EBD8DBF85CB4}">
      <dgm:prSet/>
      <dgm:spPr/>
      <dgm:t>
        <a:bodyPr/>
        <a:lstStyle/>
        <a:p>
          <a:r>
            <a:rPr lang="en-US" dirty="0"/>
            <a:t>Measure satisfaction, wellbeing, and work-life balance</a:t>
          </a:r>
          <a:endParaRPr lang="en-GB" dirty="0"/>
        </a:p>
      </dgm:t>
    </dgm:pt>
    <dgm:pt modelId="{749F7763-9BEA-4474-9CFC-394C331CDA88}" type="parTrans" cxnId="{9921AD69-328E-4BD4-ABAB-846D9649EE28}">
      <dgm:prSet/>
      <dgm:spPr/>
      <dgm:t>
        <a:bodyPr/>
        <a:lstStyle/>
        <a:p>
          <a:endParaRPr lang="en-GB"/>
        </a:p>
      </dgm:t>
    </dgm:pt>
    <dgm:pt modelId="{E37B7797-C262-4648-AD1C-7BE4D9ED9B74}" type="sibTrans" cxnId="{9921AD69-328E-4BD4-ABAB-846D9649EE28}">
      <dgm:prSet phldrT="3" phldr="0"/>
      <dgm:spPr/>
      <dgm:t>
        <a:bodyPr/>
        <a:lstStyle/>
        <a:p>
          <a:endParaRPr lang="en-GB" dirty="0"/>
        </a:p>
      </dgm:t>
    </dgm:pt>
    <dgm:pt modelId="{C037CF0C-AE14-4A1E-AED5-5F231A7BF9F8}">
      <dgm:prSet/>
      <dgm:spPr/>
      <dgm:t>
        <a:bodyPr/>
        <a:lstStyle/>
        <a:p>
          <a:r>
            <a:rPr lang="en-US"/>
            <a:t>Analyse ratings, training impact, and role-level output</a:t>
          </a:r>
          <a:endParaRPr lang="en-GB" dirty="0"/>
        </a:p>
      </dgm:t>
    </dgm:pt>
    <dgm:pt modelId="{97A251CC-C96D-488D-9D34-09384604E52B}" type="parTrans" cxnId="{9015D12D-ACCC-414C-A6BB-3B1127660373}">
      <dgm:prSet/>
      <dgm:spPr/>
      <dgm:t>
        <a:bodyPr/>
        <a:lstStyle/>
        <a:p>
          <a:endParaRPr lang="en-GB"/>
        </a:p>
      </dgm:t>
    </dgm:pt>
    <dgm:pt modelId="{6901B6DF-34A1-4261-B4F1-5DC8F5CE2F45}" type="sibTrans" cxnId="{9015D12D-ACCC-414C-A6BB-3B1127660373}">
      <dgm:prSet/>
      <dgm:spPr/>
      <dgm:t>
        <a:bodyPr/>
        <a:lstStyle/>
        <a:p>
          <a:endParaRPr lang="en-GB"/>
        </a:p>
      </dgm:t>
    </dgm:pt>
    <dgm:pt modelId="{1CC91B6F-C63F-425D-B614-47035990CD9F}">
      <dgm:prSet/>
      <dgm:spPr/>
      <dgm:t>
        <a:bodyPr/>
        <a:lstStyle/>
        <a:p>
          <a:r>
            <a:rPr lang="en-US" dirty="0"/>
            <a:t>Monitor burnout risk and environment satisfaction</a:t>
          </a:r>
          <a:endParaRPr lang="en-GB" dirty="0"/>
        </a:p>
      </dgm:t>
    </dgm:pt>
    <dgm:pt modelId="{696B3405-116A-4610-AB2D-5AE20652CD8F}" type="parTrans" cxnId="{B1602994-6C35-4736-A53F-BE8B13EEC7C2}">
      <dgm:prSet/>
      <dgm:spPr/>
      <dgm:t>
        <a:bodyPr/>
        <a:lstStyle/>
        <a:p>
          <a:endParaRPr lang="en-GB"/>
        </a:p>
      </dgm:t>
    </dgm:pt>
    <dgm:pt modelId="{64A25339-3680-4AF7-AEA5-DD5A0018C7B5}" type="sibTrans" cxnId="{B1602994-6C35-4736-A53F-BE8B13EEC7C2}">
      <dgm:prSet/>
      <dgm:spPr/>
      <dgm:t>
        <a:bodyPr/>
        <a:lstStyle/>
        <a:p>
          <a:endParaRPr lang="en-GB"/>
        </a:p>
      </dgm:t>
    </dgm:pt>
    <dgm:pt modelId="{53B10D10-160E-41EE-9B13-A938D51E66F0}" type="pres">
      <dgm:prSet presAssocID="{F38AE03A-0F4C-400F-BB54-88618D340516}" presName="Name0" presStyleCnt="0">
        <dgm:presLayoutVars>
          <dgm:dir/>
          <dgm:resizeHandles val="exact"/>
        </dgm:presLayoutVars>
      </dgm:prSet>
      <dgm:spPr/>
    </dgm:pt>
    <dgm:pt modelId="{90FF4CF5-9C69-4EAE-9962-CC0F4C3831CD}" type="pres">
      <dgm:prSet presAssocID="{CF3988FA-9142-461A-9581-E634EE53EA7C}" presName="node" presStyleLbl="node1" presStyleIdx="0" presStyleCnt="4">
        <dgm:presLayoutVars>
          <dgm:bulletEnabled val="1"/>
        </dgm:presLayoutVars>
      </dgm:prSet>
      <dgm:spPr/>
    </dgm:pt>
    <dgm:pt modelId="{C9C950CA-5CBC-47B7-8117-A4B602C11209}" type="pres">
      <dgm:prSet presAssocID="{902BD9E0-A76D-49EE-BBF5-1692575632DE}" presName="sibTrans" presStyleLbl="sibTrans2D1" presStyleIdx="0" presStyleCnt="3"/>
      <dgm:spPr/>
    </dgm:pt>
    <dgm:pt modelId="{4710981E-0801-4C74-8ABF-F55E5E43ADD7}" type="pres">
      <dgm:prSet presAssocID="{902BD9E0-A76D-49EE-BBF5-1692575632DE}" presName="connectorText" presStyleLbl="sibTrans2D1" presStyleIdx="0" presStyleCnt="3"/>
      <dgm:spPr/>
    </dgm:pt>
    <dgm:pt modelId="{49430373-A5F1-41D4-9DBC-0FC8BAB86361}" type="pres">
      <dgm:prSet presAssocID="{B517A2AB-94FA-47C4-87BB-EBD8DBF85CB4}" presName="node" presStyleLbl="node1" presStyleIdx="1" presStyleCnt="4">
        <dgm:presLayoutVars>
          <dgm:bulletEnabled val="1"/>
        </dgm:presLayoutVars>
      </dgm:prSet>
      <dgm:spPr/>
    </dgm:pt>
    <dgm:pt modelId="{1F804354-4C85-40A3-A994-3B008799EB5E}" type="pres">
      <dgm:prSet presAssocID="{E37B7797-C262-4648-AD1C-7BE4D9ED9B74}" presName="sibTrans" presStyleLbl="sibTrans2D1" presStyleIdx="1" presStyleCnt="3"/>
      <dgm:spPr/>
    </dgm:pt>
    <dgm:pt modelId="{81A02580-F6F0-45AC-8753-28929B639074}" type="pres">
      <dgm:prSet presAssocID="{E37B7797-C262-4648-AD1C-7BE4D9ED9B74}" presName="connectorText" presStyleLbl="sibTrans2D1" presStyleIdx="1" presStyleCnt="3"/>
      <dgm:spPr/>
    </dgm:pt>
    <dgm:pt modelId="{3E2CCC59-66A8-42C6-8C2B-6657B5C216A2}" type="pres">
      <dgm:prSet presAssocID="{C037CF0C-AE14-4A1E-AED5-5F231A7BF9F8}" presName="node" presStyleLbl="node1" presStyleIdx="2" presStyleCnt="4">
        <dgm:presLayoutVars>
          <dgm:bulletEnabled val="1"/>
        </dgm:presLayoutVars>
      </dgm:prSet>
      <dgm:spPr/>
    </dgm:pt>
    <dgm:pt modelId="{83380F77-ADF6-4830-A2E2-1D2760B5E48A}" type="pres">
      <dgm:prSet presAssocID="{6901B6DF-34A1-4261-B4F1-5DC8F5CE2F45}" presName="sibTrans" presStyleLbl="sibTrans2D1" presStyleIdx="2" presStyleCnt="3"/>
      <dgm:spPr/>
    </dgm:pt>
    <dgm:pt modelId="{013EA911-EE09-44F0-B9F2-F79FCDAF3EB3}" type="pres">
      <dgm:prSet presAssocID="{6901B6DF-34A1-4261-B4F1-5DC8F5CE2F45}" presName="connectorText" presStyleLbl="sibTrans2D1" presStyleIdx="2" presStyleCnt="3"/>
      <dgm:spPr/>
    </dgm:pt>
    <dgm:pt modelId="{C570337D-A4D2-4979-A6AB-AE5524C966A6}" type="pres">
      <dgm:prSet presAssocID="{1CC91B6F-C63F-425D-B614-47035990CD9F}" presName="node" presStyleLbl="node1" presStyleIdx="3" presStyleCnt="4">
        <dgm:presLayoutVars>
          <dgm:bulletEnabled val="1"/>
        </dgm:presLayoutVars>
      </dgm:prSet>
      <dgm:spPr/>
    </dgm:pt>
  </dgm:ptLst>
  <dgm:cxnLst>
    <dgm:cxn modelId="{9015D12D-ACCC-414C-A6BB-3B1127660373}" srcId="{F38AE03A-0F4C-400F-BB54-88618D340516}" destId="{C037CF0C-AE14-4A1E-AED5-5F231A7BF9F8}" srcOrd="2" destOrd="0" parTransId="{97A251CC-C96D-488D-9D34-09384604E52B}" sibTransId="{6901B6DF-34A1-4261-B4F1-5DC8F5CE2F45}"/>
    <dgm:cxn modelId="{E9B4B841-AD2B-4A15-A740-E8B89C078BBD}" type="presOf" srcId="{6901B6DF-34A1-4261-B4F1-5DC8F5CE2F45}" destId="{013EA911-EE09-44F0-B9F2-F79FCDAF3EB3}" srcOrd="1" destOrd="0" presId="urn:microsoft.com/office/officeart/2005/8/layout/process1"/>
    <dgm:cxn modelId="{9921AD69-328E-4BD4-ABAB-846D9649EE28}" srcId="{F38AE03A-0F4C-400F-BB54-88618D340516}" destId="{B517A2AB-94FA-47C4-87BB-EBD8DBF85CB4}" srcOrd="1" destOrd="0" parTransId="{749F7763-9BEA-4474-9CFC-394C331CDA88}" sibTransId="{E37B7797-C262-4648-AD1C-7BE4D9ED9B74}"/>
    <dgm:cxn modelId="{C983326A-D101-4428-8862-AED0FA2F7E25}" type="presOf" srcId="{1CC91B6F-C63F-425D-B614-47035990CD9F}" destId="{C570337D-A4D2-4979-A6AB-AE5524C966A6}" srcOrd="0" destOrd="0" presId="urn:microsoft.com/office/officeart/2005/8/layout/process1"/>
    <dgm:cxn modelId="{7851E182-D004-4811-A0BA-BC954FDC0F03}" type="presOf" srcId="{C037CF0C-AE14-4A1E-AED5-5F231A7BF9F8}" destId="{3E2CCC59-66A8-42C6-8C2B-6657B5C216A2}" srcOrd="0" destOrd="0" presId="urn:microsoft.com/office/officeart/2005/8/layout/process1"/>
    <dgm:cxn modelId="{4085E68F-B2A5-4F8F-9C41-B936C76DA9B5}" type="presOf" srcId="{6901B6DF-34A1-4261-B4F1-5DC8F5CE2F45}" destId="{83380F77-ADF6-4830-A2E2-1D2760B5E48A}" srcOrd="0" destOrd="0" presId="urn:microsoft.com/office/officeart/2005/8/layout/process1"/>
    <dgm:cxn modelId="{B1602994-6C35-4736-A53F-BE8B13EEC7C2}" srcId="{F38AE03A-0F4C-400F-BB54-88618D340516}" destId="{1CC91B6F-C63F-425D-B614-47035990CD9F}" srcOrd="3" destOrd="0" parTransId="{696B3405-116A-4610-AB2D-5AE20652CD8F}" sibTransId="{64A25339-3680-4AF7-AEA5-DD5A0018C7B5}"/>
    <dgm:cxn modelId="{1018DBC1-2A83-4EE6-B983-6976F5710C7A}" type="presOf" srcId="{CF3988FA-9142-461A-9581-E634EE53EA7C}" destId="{90FF4CF5-9C69-4EAE-9962-CC0F4C3831CD}" srcOrd="0" destOrd="0" presId="urn:microsoft.com/office/officeart/2005/8/layout/process1"/>
    <dgm:cxn modelId="{7DB213D3-5DA1-408D-9526-353DC2A4FF8C}" type="presOf" srcId="{E37B7797-C262-4648-AD1C-7BE4D9ED9B74}" destId="{81A02580-F6F0-45AC-8753-28929B639074}" srcOrd="1" destOrd="0" presId="urn:microsoft.com/office/officeart/2005/8/layout/process1"/>
    <dgm:cxn modelId="{A289E2E1-0809-49B7-9223-32F4E1291DFB}" type="presOf" srcId="{902BD9E0-A76D-49EE-BBF5-1692575632DE}" destId="{C9C950CA-5CBC-47B7-8117-A4B602C11209}" srcOrd="0" destOrd="0" presId="urn:microsoft.com/office/officeart/2005/8/layout/process1"/>
    <dgm:cxn modelId="{02F93BE8-195D-481A-8700-9D60F3A8CE8C}" type="presOf" srcId="{902BD9E0-A76D-49EE-BBF5-1692575632DE}" destId="{4710981E-0801-4C74-8ABF-F55E5E43ADD7}" srcOrd="1" destOrd="0" presId="urn:microsoft.com/office/officeart/2005/8/layout/process1"/>
    <dgm:cxn modelId="{E57C64EC-AE59-49CD-8204-A3E137BA5BD7}" type="presOf" srcId="{E37B7797-C262-4648-AD1C-7BE4D9ED9B74}" destId="{1F804354-4C85-40A3-A994-3B008799EB5E}" srcOrd="0" destOrd="0" presId="urn:microsoft.com/office/officeart/2005/8/layout/process1"/>
    <dgm:cxn modelId="{8E777DF9-8766-42FA-A9FE-EA28E965CC2F}" type="presOf" srcId="{F38AE03A-0F4C-400F-BB54-88618D340516}" destId="{53B10D10-160E-41EE-9B13-A938D51E66F0}" srcOrd="0" destOrd="0" presId="urn:microsoft.com/office/officeart/2005/8/layout/process1"/>
    <dgm:cxn modelId="{97957DFD-344A-4BFD-AC40-0F152F06DF52}" srcId="{F38AE03A-0F4C-400F-BB54-88618D340516}" destId="{CF3988FA-9142-461A-9581-E634EE53EA7C}" srcOrd="0" destOrd="0" parTransId="{5FFA7C01-79D1-4D16-B9C8-42F58CD0CBF6}" sibTransId="{902BD9E0-A76D-49EE-BBF5-1692575632DE}"/>
    <dgm:cxn modelId="{B0CBBDFD-4D2B-43C8-BD6A-78C761FB9525}" type="presOf" srcId="{B517A2AB-94FA-47C4-87BB-EBD8DBF85CB4}" destId="{49430373-A5F1-41D4-9DBC-0FC8BAB86361}" srcOrd="0" destOrd="0" presId="urn:microsoft.com/office/officeart/2005/8/layout/process1"/>
    <dgm:cxn modelId="{1AF35079-7E40-4070-9CC2-FC0B2D70CEB4}" type="presParOf" srcId="{53B10D10-160E-41EE-9B13-A938D51E66F0}" destId="{90FF4CF5-9C69-4EAE-9962-CC0F4C3831CD}" srcOrd="0" destOrd="0" presId="urn:microsoft.com/office/officeart/2005/8/layout/process1"/>
    <dgm:cxn modelId="{F910C4B4-CB5D-4D84-92F0-8E4ACF8F4B11}" type="presParOf" srcId="{53B10D10-160E-41EE-9B13-A938D51E66F0}" destId="{C9C950CA-5CBC-47B7-8117-A4B602C11209}" srcOrd="1" destOrd="0" presId="urn:microsoft.com/office/officeart/2005/8/layout/process1"/>
    <dgm:cxn modelId="{294F1B44-5BC6-43CE-B1A8-6C420E7BA7A5}" type="presParOf" srcId="{C9C950CA-5CBC-47B7-8117-A4B602C11209}" destId="{4710981E-0801-4C74-8ABF-F55E5E43ADD7}" srcOrd="0" destOrd="0" presId="urn:microsoft.com/office/officeart/2005/8/layout/process1"/>
    <dgm:cxn modelId="{CA450D52-64C8-4C3C-B03B-509BD177CB0E}" type="presParOf" srcId="{53B10D10-160E-41EE-9B13-A938D51E66F0}" destId="{49430373-A5F1-41D4-9DBC-0FC8BAB86361}" srcOrd="2" destOrd="0" presId="urn:microsoft.com/office/officeart/2005/8/layout/process1"/>
    <dgm:cxn modelId="{DE1A6D5F-ABFB-4F82-93EC-5A303AC9DDD6}" type="presParOf" srcId="{53B10D10-160E-41EE-9B13-A938D51E66F0}" destId="{1F804354-4C85-40A3-A994-3B008799EB5E}" srcOrd="3" destOrd="0" presId="urn:microsoft.com/office/officeart/2005/8/layout/process1"/>
    <dgm:cxn modelId="{CF7422BF-BBEC-4286-AE2C-E2A5FEBE3307}" type="presParOf" srcId="{1F804354-4C85-40A3-A994-3B008799EB5E}" destId="{81A02580-F6F0-45AC-8753-28929B639074}" srcOrd="0" destOrd="0" presId="urn:microsoft.com/office/officeart/2005/8/layout/process1"/>
    <dgm:cxn modelId="{13FD6C16-C8E1-4838-8568-F15CB1F5121C}" type="presParOf" srcId="{53B10D10-160E-41EE-9B13-A938D51E66F0}" destId="{3E2CCC59-66A8-42C6-8C2B-6657B5C216A2}" srcOrd="4" destOrd="0" presId="urn:microsoft.com/office/officeart/2005/8/layout/process1"/>
    <dgm:cxn modelId="{079ADAFF-CC48-4C4F-9D7B-C62D5FA65EBC}" type="presParOf" srcId="{53B10D10-160E-41EE-9B13-A938D51E66F0}" destId="{83380F77-ADF6-4830-A2E2-1D2760B5E48A}" srcOrd="5" destOrd="0" presId="urn:microsoft.com/office/officeart/2005/8/layout/process1"/>
    <dgm:cxn modelId="{A9C986AB-339A-4CF2-AB4D-01782DB46CDD}" type="presParOf" srcId="{83380F77-ADF6-4830-A2E2-1D2760B5E48A}" destId="{013EA911-EE09-44F0-B9F2-F79FCDAF3EB3}" srcOrd="0" destOrd="0" presId="urn:microsoft.com/office/officeart/2005/8/layout/process1"/>
    <dgm:cxn modelId="{EC4A0C80-92D4-4D30-AB81-010D8EA2E292}" type="presParOf" srcId="{53B10D10-160E-41EE-9B13-A938D51E66F0}" destId="{C570337D-A4D2-4979-A6AB-AE5524C966A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8AE03A-0F4C-400F-BB54-88618D340516}" type="doc">
      <dgm:prSet loTypeId="urn:microsoft.com/office/officeart/2005/8/layout/process1" loCatId="process" qsTypeId="urn:microsoft.com/office/officeart/2005/8/quickstyle/3d2" qsCatId="3D" csTypeId="urn:microsoft.com/office/officeart/2005/8/colors/accent1_2" csCatId="accent1" phldr="1"/>
      <dgm:spPr/>
    </dgm:pt>
    <dgm:pt modelId="{CF3988FA-9142-461A-9581-E634EE53EA7C}">
      <dgm:prSet phldrT="[Text]"/>
      <dgm:spPr/>
      <dgm:t>
        <a:bodyPr/>
        <a:lstStyle/>
        <a:p>
          <a:r>
            <a:rPr lang="en-GB" dirty="0"/>
            <a:t>Attrition</a:t>
          </a:r>
        </a:p>
      </dgm:t>
    </dgm:pt>
    <dgm:pt modelId="{5FFA7C01-79D1-4D16-B9C8-42F58CD0CBF6}" type="parTrans" cxnId="{97957DFD-344A-4BFD-AC40-0F152F06DF52}">
      <dgm:prSet/>
      <dgm:spPr/>
      <dgm:t>
        <a:bodyPr/>
        <a:lstStyle/>
        <a:p>
          <a:endParaRPr lang="en-GB"/>
        </a:p>
      </dgm:t>
    </dgm:pt>
    <dgm:pt modelId="{902BD9E0-A76D-49EE-BBF5-1692575632DE}" type="sibTrans" cxnId="{97957DFD-344A-4BFD-AC40-0F152F06DF52}">
      <dgm:prSet phldrT="2" phldr="0"/>
      <dgm:spPr/>
      <dgm:t>
        <a:bodyPr/>
        <a:lstStyle/>
        <a:p>
          <a:endParaRPr lang="en-GB" dirty="0"/>
        </a:p>
      </dgm:t>
    </dgm:pt>
    <dgm:pt modelId="{B517A2AB-94FA-47C4-87BB-EBD8DBF85CB4}">
      <dgm:prSet/>
      <dgm:spPr/>
      <dgm:t>
        <a:bodyPr/>
        <a:lstStyle/>
        <a:p>
          <a:r>
            <a:rPr lang="en-GB" dirty="0"/>
            <a:t>Engagement</a:t>
          </a:r>
        </a:p>
      </dgm:t>
    </dgm:pt>
    <dgm:pt modelId="{749F7763-9BEA-4474-9CFC-394C331CDA88}" type="parTrans" cxnId="{9921AD69-328E-4BD4-ABAB-846D9649EE28}">
      <dgm:prSet/>
      <dgm:spPr/>
      <dgm:t>
        <a:bodyPr/>
        <a:lstStyle/>
        <a:p>
          <a:endParaRPr lang="en-GB"/>
        </a:p>
      </dgm:t>
    </dgm:pt>
    <dgm:pt modelId="{E37B7797-C262-4648-AD1C-7BE4D9ED9B74}" type="sibTrans" cxnId="{9921AD69-328E-4BD4-ABAB-846D9649EE28}">
      <dgm:prSet phldrT="3" phldr="0"/>
      <dgm:spPr/>
      <dgm:t>
        <a:bodyPr/>
        <a:lstStyle/>
        <a:p>
          <a:endParaRPr lang="en-GB" dirty="0"/>
        </a:p>
      </dgm:t>
    </dgm:pt>
    <dgm:pt modelId="{C037CF0C-AE14-4A1E-AED5-5F231A7BF9F8}">
      <dgm:prSet/>
      <dgm:spPr/>
      <dgm:t>
        <a:bodyPr/>
        <a:lstStyle/>
        <a:p>
          <a:r>
            <a:rPr lang="en-GB" dirty="0"/>
            <a:t>Performance</a:t>
          </a:r>
        </a:p>
      </dgm:t>
    </dgm:pt>
    <dgm:pt modelId="{97A251CC-C96D-488D-9D34-09384604E52B}" type="parTrans" cxnId="{9015D12D-ACCC-414C-A6BB-3B1127660373}">
      <dgm:prSet/>
      <dgm:spPr/>
      <dgm:t>
        <a:bodyPr/>
        <a:lstStyle/>
        <a:p>
          <a:endParaRPr lang="en-GB"/>
        </a:p>
      </dgm:t>
    </dgm:pt>
    <dgm:pt modelId="{6901B6DF-34A1-4261-B4F1-5DC8F5CE2F45}" type="sibTrans" cxnId="{9015D12D-ACCC-414C-A6BB-3B1127660373}">
      <dgm:prSet/>
      <dgm:spPr/>
      <dgm:t>
        <a:bodyPr/>
        <a:lstStyle/>
        <a:p>
          <a:endParaRPr lang="en-GB"/>
        </a:p>
      </dgm:t>
    </dgm:pt>
    <dgm:pt modelId="{1CC91B6F-C63F-425D-B614-47035990CD9F}">
      <dgm:prSet/>
      <dgm:spPr/>
      <dgm:t>
        <a:bodyPr/>
        <a:lstStyle/>
        <a:p>
          <a:r>
            <a:rPr lang="en-GB" dirty="0"/>
            <a:t>Wellbeing</a:t>
          </a:r>
        </a:p>
      </dgm:t>
    </dgm:pt>
    <dgm:pt modelId="{696B3405-116A-4610-AB2D-5AE20652CD8F}" type="parTrans" cxnId="{B1602994-6C35-4736-A53F-BE8B13EEC7C2}">
      <dgm:prSet/>
      <dgm:spPr/>
      <dgm:t>
        <a:bodyPr/>
        <a:lstStyle/>
        <a:p>
          <a:endParaRPr lang="en-GB"/>
        </a:p>
      </dgm:t>
    </dgm:pt>
    <dgm:pt modelId="{64A25339-3680-4AF7-AEA5-DD5A0018C7B5}" type="sibTrans" cxnId="{B1602994-6C35-4736-A53F-BE8B13EEC7C2}">
      <dgm:prSet/>
      <dgm:spPr/>
      <dgm:t>
        <a:bodyPr/>
        <a:lstStyle/>
        <a:p>
          <a:endParaRPr lang="en-GB"/>
        </a:p>
      </dgm:t>
    </dgm:pt>
    <dgm:pt modelId="{53B10D10-160E-41EE-9B13-A938D51E66F0}" type="pres">
      <dgm:prSet presAssocID="{F38AE03A-0F4C-400F-BB54-88618D340516}" presName="Name0" presStyleCnt="0">
        <dgm:presLayoutVars>
          <dgm:dir/>
          <dgm:resizeHandles val="exact"/>
        </dgm:presLayoutVars>
      </dgm:prSet>
      <dgm:spPr/>
    </dgm:pt>
    <dgm:pt modelId="{90FF4CF5-9C69-4EAE-9962-CC0F4C3831CD}" type="pres">
      <dgm:prSet presAssocID="{CF3988FA-9142-461A-9581-E634EE53EA7C}" presName="node" presStyleLbl="node1" presStyleIdx="0" presStyleCnt="4">
        <dgm:presLayoutVars>
          <dgm:bulletEnabled val="1"/>
        </dgm:presLayoutVars>
      </dgm:prSet>
      <dgm:spPr/>
    </dgm:pt>
    <dgm:pt modelId="{C9C950CA-5CBC-47B7-8117-A4B602C11209}" type="pres">
      <dgm:prSet presAssocID="{902BD9E0-A76D-49EE-BBF5-1692575632DE}" presName="sibTrans" presStyleLbl="sibTrans2D1" presStyleIdx="0" presStyleCnt="3"/>
      <dgm:spPr/>
    </dgm:pt>
    <dgm:pt modelId="{4710981E-0801-4C74-8ABF-F55E5E43ADD7}" type="pres">
      <dgm:prSet presAssocID="{902BD9E0-A76D-49EE-BBF5-1692575632DE}" presName="connectorText" presStyleLbl="sibTrans2D1" presStyleIdx="0" presStyleCnt="3"/>
      <dgm:spPr/>
    </dgm:pt>
    <dgm:pt modelId="{49430373-A5F1-41D4-9DBC-0FC8BAB86361}" type="pres">
      <dgm:prSet presAssocID="{B517A2AB-94FA-47C4-87BB-EBD8DBF85CB4}" presName="node" presStyleLbl="node1" presStyleIdx="1" presStyleCnt="4">
        <dgm:presLayoutVars>
          <dgm:bulletEnabled val="1"/>
        </dgm:presLayoutVars>
      </dgm:prSet>
      <dgm:spPr/>
    </dgm:pt>
    <dgm:pt modelId="{1F804354-4C85-40A3-A994-3B008799EB5E}" type="pres">
      <dgm:prSet presAssocID="{E37B7797-C262-4648-AD1C-7BE4D9ED9B74}" presName="sibTrans" presStyleLbl="sibTrans2D1" presStyleIdx="1" presStyleCnt="3"/>
      <dgm:spPr/>
    </dgm:pt>
    <dgm:pt modelId="{81A02580-F6F0-45AC-8753-28929B639074}" type="pres">
      <dgm:prSet presAssocID="{E37B7797-C262-4648-AD1C-7BE4D9ED9B74}" presName="connectorText" presStyleLbl="sibTrans2D1" presStyleIdx="1" presStyleCnt="3"/>
      <dgm:spPr/>
    </dgm:pt>
    <dgm:pt modelId="{3E2CCC59-66A8-42C6-8C2B-6657B5C216A2}" type="pres">
      <dgm:prSet presAssocID="{C037CF0C-AE14-4A1E-AED5-5F231A7BF9F8}" presName="node" presStyleLbl="node1" presStyleIdx="2" presStyleCnt="4">
        <dgm:presLayoutVars>
          <dgm:bulletEnabled val="1"/>
        </dgm:presLayoutVars>
      </dgm:prSet>
      <dgm:spPr/>
    </dgm:pt>
    <dgm:pt modelId="{83380F77-ADF6-4830-A2E2-1D2760B5E48A}" type="pres">
      <dgm:prSet presAssocID="{6901B6DF-34A1-4261-B4F1-5DC8F5CE2F45}" presName="sibTrans" presStyleLbl="sibTrans2D1" presStyleIdx="2" presStyleCnt="3"/>
      <dgm:spPr/>
    </dgm:pt>
    <dgm:pt modelId="{013EA911-EE09-44F0-B9F2-F79FCDAF3EB3}" type="pres">
      <dgm:prSet presAssocID="{6901B6DF-34A1-4261-B4F1-5DC8F5CE2F45}" presName="connectorText" presStyleLbl="sibTrans2D1" presStyleIdx="2" presStyleCnt="3"/>
      <dgm:spPr/>
    </dgm:pt>
    <dgm:pt modelId="{C570337D-A4D2-4979-A6AB-AE5524C966A6}" type="pres">
      <dgm:prSet presAssocID="{1CC91B6F-C63F-425D-B614-47035990CD9F}" presName="node" presStyleLbl="node1" presStyleIdx="3" presStyleCnt="4">
        <dgm:presLayoutVars>
          <dgm:bulletEnabled val="1"/>
        </dgm:presLayoutVars>
      </dgm:prSet>
      <dgm:spPr/>
    </dgm:pt>
  </dgm:ptLst>
  <dgm:cxnLst>
    <dgm:cxn modelId="{9015D12D-ACCC-414C-A6BB-3B1127660373}" srcId="{F38AE03A-0F4C-400F-BB54-88618D340516}" destId="{C037CF0C-AE14-4A1E-AED5-5F231A7BF9F8}" srcOrd="2" destOrd="0" parTransId="{97A251CC-C96D-488D-9D34-09384604E52B}" sibTransId="{6901B6DF-34A1-4261-B4F1-5DC8F5CE2F45}"/>
    <dgm:cxn modelId="{E9B4B841-AD2B-4A15-A740-E8B89C078BBD}" type="presOf" srcId="{6901B6DF-34A1-4261-B4F1-5DC8F5CE2F45}" destId="{013EA911-EE09-44F0-B9F2-F79FCDAF3EB3}" srcOrd="1" destOrd="0" presId="urn:microsoft.com/office/officeart/2005/8/layout/process1"/>
    <dgm:cxn modelId="{9921AD69-328E-4BD4-ABAB-846D9649EE28}" srcId="{F38AE03A-0F4C-400F-BB54-88618D340516}" destId="{B517A2AB-94FA-47C4-87BB-EBD8DBF85CB4}" srcOrd="1" destOrd="0" parTransId="{749F7763-9BEA-4474-9CFC-394C331CDA88}" sibTransId="{E37B7797-C262-4648-AD1C-7BE4D9ED9B74}"/>
    <dgm:cxn modelId="{C983326A-D101-4428-8862-AED0FA2F7E25}" type="presOf" srcId="{1CC91B6F-C63F-425D-B614-47035990CD9F}" destId="{C570337D-A4D2-4979-A6AB-AE5524C966A6}" srcOrd="0" destOrd="0" presId="urn:microsoft.com/office/officeart/2005/8/layout/process1"/>
    <dgm:cxn modelId="{7851E182-D004-4811-A0BA-BC954FDC0F03}" type="presOf" srcId="{C037CF0C-AE14-4A1E-AED5-5F231A7BF9F8}" destId="{3E2CCC59-66A8-42C6-8C2B-6657B5C216A2}" srcOrd="0" destOrd="0" presId="urn:microsoft.com/office/officeart/2005/8/layout/process1"/>
    <dgm:cxn modelId="{4085E68F-B2A5-4F8F-9C41-B936C76DA9B5}" type="presOf" srcId="{6901B6DF-34A1-4261-B4F1-5DC8F5CE2F45}" destId="{83380F77-ADF6-4830-A2E2-1D2760B5E48A}" srcOrd="0" destOrd="0" presId="urn:microsoft.com/office/officeart/2005/8/layout/process1"/>
    <dgm:cxn modelId="{B1602994-6C35-4736-A53F-BE8B13EEC7C2}" srcId="{F38AE03A-0F4C-400F-BB54-88618D340516}" destId="{1CC91B6F-C63F-425D-B614-47035990CD9F}" srcOrd="3" destOrd="0" parTransId="{696B3405-116A-4610-AB2D-5AE20652CD8F}" sibTransId="{64A25339-3680-4AF7-AEA5-DD5A0018C7B5}"/>
    <dgm:cxn modelId="{1018DBC1-2A83-4EE6-B983-6976F5710C7A}" type="presOf" srcId="{CF3988FA-9142-461A-9581-E634EE53EA7C}" destId="{90FF4CF5-9C69-4EAE-9962-CC0F4C3831CD}" srcOrd="0" destOrd="0" presId="urn:microsoft.com/office/officeart/2005/8/layout/process1"/>
    <dgm:cxn modelId="{7DB213D3-5DA1-408D-9526-353DC2A4FF8C}" type="presOf" srcId="{E37B7797-C262-4648-AD1C-7BE4D9ED9B74}" destId="{81A02580-F6F0-45AC-8753-28929B639074}" srcOrd="1" destOrd="0" presId="urn:microsoft.com/office/officeart/2005/8/layout/process1"/>
    <dgm:cxn modelId="{A289E2E1-0809-49B7-9223-32F4E1291DFB}" type="presOf" srcId="{902BD9E0-A76D-49EE-BBF5-1692575632DE}" destId="{C9C950CA-5CBC-47B7-8117-A4B602C11209}" srcOrd="0" destOrd="0" presId="urn:microsoft.com/office/officeart/2005/8/layout/process1"/>
    <dgm:cxn modelId="{02F93BE8-195D-481A-8700-9D60F3A8CE8C}" type="presOf" srcId="{902BD9E0-A76D-49EE-BBF5-1692575632DE}" destId="{4710981E-0801-4C74-8ABF-F55E5E43ADD7}" srcOrd="1" destOrd="0" presId="urn:microsoft.com/office/officeart/2005/8/layout/process1"/>
    <dgm:cxn modelId="{E57C64EC-AE59-49CD-8204-A3E137BA5BD7}" type="presOf" srcId="{E37B7797-C262-4648-AD1C-7BE4D9ED9B74}" destId="{1F804354-4C85-40A3-A994-3B008799EB5E}" srcOrd="0" destOrd="0" presId="urn:microsoft.com/office/officeart/2005/8/layout/process1"/>
    <dgm:cxn modelId="{8E777DF9-8766-42FA-A9FE-EA28E965CC2F}" type="presOf" srcId="{F38AE03A-0F4C-400F-BB54-88618D340516}" destId="{53B10D10-160E-41EE-9B13-A938D51E66F0}" srcOrd="0" destOrd="0" presId="urn:microsoft.com/office/officeart/2005/8/layout/process1"/>
    <dgm:cxn modelId="{97957DFD-344A-4BFD-AC40-0F152F06DF52}" srcId="{F38AE03A-0F4C-400F-BB54-88618D340516}" destId="{CF3988FA-9142-461A-9581-E634EE53EA7C}" srcOrd="0" destOrd="0" parTransId="{5FFA7C01-79D1-4D16-B9C8-42F58CD0CBF6}" sibTransId="{902BD9E0-A76D-49EE-BBF5-1692575632DE}"/>
    <dgm:cxn modelId="{B0CBBDFD-4D2B-43C8-BD6A-78C761FB9525}" type="presOf" srcId="{B517A2AB-94FA-47C4-87BB-EBD8DBF85CB4}" destId="{49430373-A5F1-41D4-9DBC-0FC8BAB86361}" srcOrd="0" destOrd="0" presId="urn:microsoft.com/office/officeart/2005/8/layout/process1"/>
    <dgm:cxn modelId="{1AF35079-7E40-4070-9CC2-FC0B2D70CEB4}" type="presParOf" srcId="{53B10D10-160E-41EE-9B13-A938D51E66F0}" destId="{90FF4CF5-9C69-4EAE-9962-CC0F4C3831CD}" srcOrd="0" destOrd="0" presId="urn:microsoft.com/office/officeart/2005/8/layout/process1"/>
    <dgm:cxn modelId="{F910C4B4-CB5D-4D84-92F0-8E4ACF8F4B11}" type="presParOf" srcId="{53B10D10-160E-41EE-9B13-A938D51E66F0}" destId="{C9C950CA-5CBC-47B7-8117-A4B602C11209}" srcOrd="1" destOrd="0" presId="urn:microsoft.com/office/officeart/2005/8/layout/process1"/>
    <dgm:cxn modelId="{294F1B44-5BC6-43CE-B1A8-6C420E7BA7A5}" type="presParOf" srcId="{C9C950CA-5CBC-47B7-8117-A4B602C11209}" destId="{4710981E-0801-4C74-8ABF-F55E5E43ADD7}" srcOrd="0" destOrd="0" presId="urn:microsoft.com/office/officeart/2005/8/layout/process1"/>
    <dgm:cxn modelId="{CA450D52-64C8-4C3C-B03B-509BD177CB0E}" type="presParOf" srcId="{53B10D10-160E-41EE-9B13-A938D51E66F0}" destId="{49430373-A5F1-41D4-9DBC-0FC8BAB86361}" srcOrd="2" destOrd="0" presId="urn:microsoft.com/office/officeart/2005/8/layout/process1"/>
    <dgm:cxn modelId="{DE1A6D5F-ABFB-4F82-93EC-5A303AC9DDD6}" type="presParOf" srcId="{53B10D10-160E-41EE-9B13-A938D51E66F0}" destId="{1F804354-4C85-40A3-A994-3B008799EB5E}" srcOrd="3" destOrd="0" presId="urn:microsoft.com/office/officeart/2005/8/layout/process1"/>
    <dgm:cxn modelId="{CF7422BF-BBEC-4286-AE2C-E2A5FEBE3307}" type="presParOf" srcId="{1F804354-4C85-40A3-A994-3B008799EB5E}" destId="{81A02580-F6F0-45AC-8753-28929B639074}" srcOrd="0" destOrd="0" presId="urn:microsoft.com/office/officeart/2005/8/layout/process1"/>
    <dgm:cxn modelId="{13FD6C16-C8E1-4838-8568-F15CB1F5121C}" type="presParOf" srcId="{53B10D10-160E-41EE-9B13-A938D51E66F0}" destId="{3E2CCC59-66A8-42C6-8C2B-6657B5C216A2}" srcOrd="4" destOrd="0" presId="urn:microsoft.com/office/officeart/2005/8/layout/process1"/>
    <dgm:cxn modelId="{079ADAFF-CC48-4C4F-9D7B-C62D5FA65EBC}" type="presParOf" srcId="{53B10D10-160E-41EE-9B13-A938D51E66F0}" destId="{83380F77-ADF6-4830-A2E2-1D2760B5E48A}" srcOrd="5" destOrd="0" presId="urn:microsoft.com/office/officeart/2005/8/layout/process1"/>
    <dgm:cxn modelId="{A9C986AB-339A-4CF2-AB4D-01782DB46CDD}" type="presParOf" srcId="{83380F77-ADF6-4830-A2E2-1D2760B5E48A}" destId="{013EA911-EE09-44F0-B9F2-F79FCDAF3EB3}" srcOrd="0" destOrd="0" presId="urn:microsoft.com/office/officeart/2005/8/layout/process1"/>
    <dgm:cxn modelId="{EC4A0C80-92D4-4D30-AB81-010D8EA2E292}" type="presParOf" srcId="{53B10D10-160E-41EE-9B13-A938D51E66F0}" destId="{C570337D-A4D2-4979-A6AB-AE5524C966A6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38AE03A-0F4C-400F-BB54-88618D340516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F3988FA-9142-461A-9581-E634EE53EA7C}">
      <dgm:prSet phldrT="[Text]" custT="1"/>
      <dgm:spPr/>
      <dgm:t>
        <a:bodyPr anchor="t"/>
        <a:lstStyle/>
        <a:p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Sales function recorded the highest turnover, </a:t>
          </a:r>
          <a:r>
            <a:rPr lang="en-US" sz="1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signalling</a:t>
          </a:r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 need for targeted retention interventions.</a:t>
          </a:r>
          <a:endParaRPr lang="en-GB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endParaRPr lang="en-GB" sz="1500" dirty="0"/>
        </a:p>
      </dgm:t>
    </dgm:pt>
    <dgm:pt modelId="{5FFA7C01-79D1-4D16-B9C8-42F58CD0CBF6}" type="parTrans" cxnId="{97957DFD-344A-4BFD-AC40-0F152F06DF52}">
      <dgm:prSet/>
      <dgm:spPr/>
      <dgm:t>
        <a:bodyPr/>
        <a:lstStyle/>
        <a:p>
          <a:endParaRPr lang="en-GB"/>
        </a:p>
      </dgm:t>
    </dgm:pt>
    <dgm:pt modelId="{902BD9E0-A76D-49EE-BBF5-1692575632DE}" type="sibTrans" cxnId="{97957DFD-344A-4BFD-AC40-0F152F06DF52}">
      <dgm:prSet phldrT="2" phldr="0"/>
      <dgm:spPr/>
      <dgm:t>
        <a:bodyPr/>
        <a:lstStyle/>
        <a:p>
          <a:endParaRPr lang="en-GB" dirty="0"/>
        </a:p>
      </dgm:t>
    </dgm:pt>
    <dgm:pt modelId="{B517A2AB-94FA-47C4-87BB-EBD8DBF85CB4}">
      <dgm:prSet custT="1"/>
      <dgm:spPr/>
      <dgm:t>
        <a:bodyPr anchor="t"/>
        <a:lstStyle/>
        <a:p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Younger age bands demonstrated higher attrition rates, pointing to career development and onboarding gaps.</a:t>
          </a:r>
          <a:endParaRPr lang="en-GB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endParaRPr lang="en-GB" sz="1500" dirty="0"/>
        </a:p>
      </dgm:t>
    </dgm:pt>
    <dgm:pt modelId="{749F7763-9BEA-4474-9CFC-394C331CDA88}" type="parTrans" cxnId="{9921AD69-328E-4BD4-ABAB-846D9649EE28}">
      <dgm:prSet/>
      <dgm:spPr/>
      <dgm:t>
        <a:bodyPr/>
        <a:lstStyle/>
        <a:p>
          <a:endParaRPr lang="en-GB"/>
        </a:p>
      </dgm:t>
    </dgm:pt>
    <dgm:pt modelId="{E37B7797-C262-4648-AD1C-7BE4D9ED9B74}" type="sibTrans" cxnId="{9921AD69-328E-4BD4-ABAB-846D9649EE28}">
      <dgm:prSet phldrT="3" phldr="0"/>
      <dgm:spPr/>
      <dgm:t>
        <a:bodyPr/>
        <a:lstStyle/>
        <a:p>
          <a:endParaRPr lang="en-GB" dirty="0"/>
        </a:p>
      </dgm:t>
    </dgm:pt>
    <dgm:pt modelId="{C037CF0C-AE14-4A1E-AED5-5F231A7BF9F8}">
      <dgm:prSet custT="1"/>
      <dgm:spPr/>
      <dgm:t>
        <a:bodyPr anchor="t"/>
        <a:lstStyle/>
        <a:p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Technology employees showed higher engagement scores, reflecting positive team culture and role satisfaction.</a:t>
          </a:r>
          <a:endParaRPr lang="en-GB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endParaRPr lang="en-GB" sz="1600" dirty="0"/>
        </a:p>
      </dgm:t>
    </dgm:pt>
    <dgm:pt modelId="{97A251CC-C96D-488D-9D34-09384604E52B}" type="parTrans" cxnId="{9015D12D-ACCC-414C-A6BB-3B1127660373}">
      <dgm:prSet/>
      <dgm:spPr/>
      <dgm:t>
        <a:bodyPr/>
        <a:lstStyle/>
        <a:p>
          <a:endParaRPr lang="en-GB"/>
        </a:p>
      </dgm:t>
    </dgm:pt>
    <dgm:pt modelId="{6901B6DF-34A1-4261-B4F1-5DC8F5CE2F45}" type="sibTrans" cxnId="{9015D12D-ACCC-414C-A6BB-3B1127660373}">
      <dgm:prSet/>
      <dgm:spPr/>
      <dgm:t>
        <a:bodyPr/>
        <a:lstStyle/>
        <a:p>
          <a:endParaRPr lang="en-GB"/>
        </a:p>
      </dgm:t>
    </dgm:pt>
    <dgm:pt modelId="{1CC91B6F-C63F-425D-B614-47035990CD9F}">
      <dgm:prSet custT="1"/>
      <dgm:spPr/>
      <dgm:t>
        <a:bodyPr anchor="t"/>
        <a:lstStyle/>
        <a:p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Employees consistently rated themselves higher than managers, highlighting a potential calibration gap.</a:t>
          </a:r>
          <a:endParaRPr lang="en-GB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endParaRPr lang="en-GB" sz="1500" dirty="0"/>
        </a:p>
      </dgm:t>
    </dgm:pt>
    <dgm:pt modelId="{696B3405-116A-4610-AB2D-5AE20652CD8F}" type="parTrans" cxnId="{B1602994-6C35-4736-A53F-BE8B13EEC7C2}">
      <dgm:prSet/>
      <dgm:spPr/>
      <dgm:t>
        <a:bodyPr/>
        <a:lstStyle/>
        <a:p>
          <a:endParaRPr lang="en-GB"/>
        </a:p>
      </dgm:t>
    </dgm:pt>
    <dgm:pt modelId="{64A25339-3680-4AF7-AEA5-DD5A0018C7B5}" type="sibTrans" cxnId="{B1602994-6C35-4736-A53F-BE8B13EEC7C2}">
      <dgm:prSet/>
      <dgm:spPr/>
      <dgm:t>
        <a:bodyPr/>
        <a:lstStyle/>
        <a:p>
          <a:endParaRPr lang="en-GB"/>
        </a:p>
      </dgm:t>
    </dgm:pt>
    <dgm:pt modelId="{97C42574-CB14-422C-AEC7-3A270941A9FF}">
      <dgm:prSet custT="1"/>
      <dgm:spPr/>
      <dgm:t>
        <a:bodyPr anchor="t"/>
        <a:lstStyle/>
        <a:p>
          <a:r>
            <a: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Burnout risk was strongly correlated with overtime hours, identifying a clear wellbeing intervention target.</a:t>
          </a:r>
          <a:endParaRPr lang="en-GB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5B6C973-CAE0-4F1A-88B7-834374896A2C}" type="parTrans" cxnId="{18326FF8-FF62-4317-9533-DE652EBEF4D4}">
      <dgm:prSet/>
      <dgm:spPr/>
      <dgm:t>
        <a:bodyPr/>
        <a:lstStyle/>
        <a:p>
          <a:endParaRPr lang="en-GB"/>
        </a:p>
      </dgm:t>
    </dgm:pt>
    <dgm:pt modelId="{64BF5B26-FC0F-432D-BD40-BE0211C63F5D}" type="sibTrans" cxnId="{18326FF8-FF62-4317-9533-DE652EBEF4D4}">
      <dgm:prSet/>
      <dgm:spPr/>
      <dgm:t>
        <a:bodyPr/>
        <a:lstStyle/>
        <a:p>
          <a:endParaRPr lang="en-GB"/>
        </a:p>
      </dgm:t>
    </dgm:pt>
    <dgm:pt modelId="{53B10D10-160E-41EE-9B13-A938D51E66F0}" type="pres">
      <dgm:prSet presAssocID="{F38AE03A-0F4C-400F-BB54-88618D340516}" presName="Name0" presStyleCnt="0">
        <dgm:presLayoutVars>
          <dgm:dir/>
          <dgm:resizeHandles val="exact"/>
        </dgm:presLayoutVars>
      </dgm:prSet>
      <dgm:spPr/>
    </dgm:pt>
    <dgm:pt modelId="{90FF4CF5-9C69-4EAE-9962-CC0F4C3831CD}" type="pres">
      <dgm:prSet presAssocID="{CF3988FA-9142-461A-9581-E634EE53EA7C}" presName="node" presStyleLbl="node1" presStyleIdx="0" presStyleCnt="5">
        <dgm:presLayoutVars>
          <dgm:bulletEnabled val="1"/>
        </dgm:presLayoutVars>
      </dgm:prSet>
      <dgm:spPr/>
    </dgm:pt>
    <dgm:pt modelId="{C9C950CA-5CBC-47B7-8117-A4B602C11209}" type="pres">
      <dgm:prSet presAssocID="{902BD9E0-A76D-49EE-BBF5-1692575632DE}" presName="sibTrans" presStyleLbl="sibTrans2D1" presStyleIdx="0" presStyleCnt="4"/>
      <dgm:spPr/>
    </dgm:pt>
    <dgm:pt modelId="{4710981E-0801-4C74-8ABF-F55E5E43ADD7}" type="pres">
      <dgm:prSet presAssocID="{902BD9E0-A76D-49EE-BBF5-1692575632DE}" presName="connectorText" presStyleLbl="sibTrans2D1" presStyleIdx="0" presStyleCnt="4"/>
      <dgm:spPr/>
    </dgm:pt>
    <dgm:pt modelId="{49430373-A5F1-41D4-9DBC-0FC8BAB86361}" type="pres">
      <dgm:prSet presAssocID="{B517A2AB-94FA-47C4-87BB-EBD8DBF85CB4}" presName="node" presStyleLbl="node1" presStyleIdx="1" presStyleCnt="5">
        <dgm:presLayoutVars>
          <dgm:bulletEnabled val="1"/>
        </dgm:presLayoutVars>
      </dgm:prSet>
      <dgm:spPr/>
    </dgm:pt>
    <dgm:pt modelId="{1F804354-4C85-40A3-A994-3B008799EB5E}" type="pres">
      <dgm:prSet presAssocID="{E37B7797-C262-4648-AD1C-7BE4D9ED9B74}" presName="sibTrans" presStyleLbl="sibTrans2D1" presStyleIdx="1" presStyleCnt="4"/>
      <dgm:spPr/>
    </dgm:pt>
    <dgm:pt modelId="{81A02580-F6F0-45AC-8753-28929B639074}" type="pres">
      <dgm:prSet presAssocID="{E37B7797-C262-4648-AD1C-7BE4D9ED9B74}" presName="connectorText" presStyleLbl="sibTrans2D1" presStyleIdx="1" presStyleCnt="4"/>
      <dgm:spPr/>
    </dgm:pt>
    <dgm:pt modelId="{3E2CCC59-66A8-42C6-8C2B-6657B5C216A2}" type="pres">
      <dgm:prSet presAssocID="{C037CF0C-AE14-4A1E-AED5-5F231A7BF9F8}" presName="node" presStyleLbl="node1" presStyleIdx="2" presStyleCnt="5">
        <dgm:presLayoutVars>
          <dgm:bulletEnabled val="1"/>
        </dgm:presLayoutVars>
      </dgm:prSet>
      <dgm:spPr/>
    </dgm:pt>
    <dgm:pt modelId="{83380F77-ADF6-4830-A2E2-1D2760B5E48A}" type="pres">
      <dgm:prSet presAssocID="{6901B6DF-34A1-4261-B4F1-5DC8F5CE2F45}" presName="sibTrans" presStyleLbl="sibTrans2D1" presStyleIdx="2" presStyleCnt="4"/>
      <dgm:spPr/>
    </dgm:pt>
    <dgm:pt modelId="{013EA911-EE09-44F0-B9F2-F79FCDAF3EB3}" type="pres">
      <dgm:prSet presAssocID="{6901B6DF-34A1-4261-B4F1-5DC8F5CE2F45}" presName="connectorText" presStyleLbl="sibTrans2D1" presStyleIdx="2" presStyleCnt="4"/>
      <dgm:spPr/>
    </dgm:pt>
    <dgm:pt modelId="{C570337D-A4D2-4979-A6AB-AE5524C966A6}" type="pres">
      <dgm:prSet presAssocID="{1CC91B6F-C63F-425D-B614-47035990CD9F}" presName="node" presStyleLbl="node1" presStyleIdx="3" presStyleCnt="5">
        <dgm:presLayoutVars>
          <dgm:bulletEnabled val="1"/>
        </dgm:presLayoutVars>
      </dgm:prSet>
      <dgm:spPr/>
    </dgm:pt>
    <dgm:pt modelId="{5EA7FCE3-45B8-4826-BA28-6BEFB96B7A50}" type="pres">
      <dgm:prSet presAssocID="{64A25339-3680-4AF7-AEA5-DD5A0018C7B5}" presName="sibTrans" presStyleLbl="sibTrans2D1" presStyleIdx="3" presStyleCnt="4"/>
      <dgm:spPr/>
    </dgm:pt>
    <dgm:pt modelId="{98178C36-FD09-4E03-A222-9BE8CCA1C283}" type="pres">
      <dgm:prSet presAssocID="{64A25339-3680-4AF7-AEA5-DD5A0018C7B5}" presName="connectorText" presStyleLbl="sibTrans2D1" presStyleIdx="3" presStyleCnt="4"/>
      <dgm:spPr/>
    </dgm:pt>
    <dgm:pt modelId="{431D0867-226D-4A5A-BE47-8070C878B5BE}" type="pres">
      <dgm:prSet presAssocID="{97C42574-CB14-422C-AEC7-3A270941A9FF}" presName="node" presStyleLbl="node1" presStyleIdx="4" presStyleCnt="5">
        <dgm:presLayoutVars>
          <dgm:bulletEnabled val="1"/>
        </dgm:presLayoutVars>
      </dgm:prSet>
      <dgm:spPr/>
    </dgm:pt>
  </dgm:ptLst>
  <dgm:cxnLst>
    <dgm:cxn modelId="{9B061721-F854-44A4-9B81-AE90C67BC5EF}" type="presOf" srcId="{97C42574-CB14-422C-AEC7-3A270941A9FF}" destId="{431D0867-226D-4A5A-BE47-8070C878B5BE}" srcOrd="0" destOrd="0" presId="urn:microsoft.com/office/officeart/2005/8/layout/process1"/>
    <dgm:cxn modelId="{9015D12D-ACCC-414C-A6BB-3B1127660373}" srcId="{F38AE03A-0F4C-400F-BB54-88618D340516}" destId="{C037CF0C-AE14-4A1E-AED5-5F231A7BF9F8}" srcOrd="2" destOrd="0" parTransId="{97A251CC-C96D-488D-9D34-09384604E52B}" sibTransId="{6901B6DF-34A1-4261-B4F1-5DC8F5CE2F45}"/>
    <dgm:cxn modelId="{CA0EFE36-FE65-4BD4-ABD6-C2B404B972DA}" type="presOf" srcId="{64A25339-3680-4AF7-AEA5-DD5A0018C7B5}" destId="{5EA7FCE3-45B8-4826-BA28-6BEFB96B7A50}" srcOrd="0" destOrd="0" presId="urn:microsoft.com/office/officeart/2005/8/layout/process1"/>
    <dgm:cxn modelId="{E9B4B841-AD2B-4A15-A740-E8B89C078BBD}" type="presOf" srcId="{6901B6DF-34A1-4261-B4F1-5DC8F5CE2F45}" destId="{013EA911-EE09-44F0-B9F2-F79FCDAF3EB3}" srcOrd="1" destOrd="0" presId="urn:microsoft.com/office/officeart/2005/8/layout/process1"/>
    <dgm:cxn modelId="{9921AD69-328E-4BD4-ABAB-846D9649EE28}" srcId="{F38AE03A-0F4C-400F-BB54-88618D340516}" destId="{B517A2AB-94FA-47C4-87BB-EBD8DBF85CB4}" srcOrd="1" destOrd="0" parTransId="{749F7763-9BEA-4474-9CFC-394C331CDA88}" sibTransId="{E37B7797-C262-4648-AD1C-7BE4D9ED9B74}"/>
    <dgm:cxn modelId="{C983326A-D101-4428-8862-AED0FA2F7E25}" type="presOf" srcId="{1CC91B6F-C63F-425D-B614-47035990CD9F}" destId="{C570337D-A4D2-4979-A6AB-AE5524C966A6}" srcOrd="0" destOrd="0" presId="urn:microsoft.com/office/officeart/2005/8/layout/process1"/>
    <dgm:cxn modelId="{7851E182-D004-4811-A0BA-BC954FDC0F03}" type="presOf" srcId="{C037CF0C-AE14-4A1E-AED5-5F231A7BF9F8}" destId="{3E2CCC59-66A8-42C6-8C2B-6657B5C216A2}" srcOrd="0" destOrd="0" presId="urn:microsoft.com/office/officeart/2005/8/layout/process1"/>
    <dgm:cxn modelId="{4085E68F-B2A5-4F8F-9C41-B936C76DA9B5}" type="presOf" srcId="{6901B6DF-34A1-4261-B4F1-5DC8F5CE2F45}" destId="{83380F77-ADF6-4830-A2E2-1D2760B5E48A}" srcOrd="0" destOrd="0" presId="urn:microsoft.com/office/officeart/2005/8/layout/process1"/>
    <dgm:cxn modelId="{B1602994-6C35-4736-A53F-BE8B13EEC7C2}" srcId="{F38AE03A-0F4C-400F-BB54-88618D340516}" destId="{1CC91B6F-C63F-425D-B614-47035990CD9F}" srcOrd="3" destOrd="0" parTransId="{696B3405-116A-4610-AB2D-5AE20652CD8F}" sibTransId="{64A25339-3680-4AF7-AEA5-DD5A0018C7B5}"/>
    <dgm:cxn modelId="{1018DBC1-2A83-4EE6-B983-6976F5710C7A}" type="presOf" srcId="{CF3988FA-9142-461A-9581-E634EE53EA7C}" destId="{90FF4CF5-9C69-4EAE-9962-CC0F4C3831CD}" srcOrd="0" destOrd="0" presId="urn:microsoft.com/office/officeart/2005/8/layout/process1"/>
    <dgm:cxn modelId="{A9D015C4-FD1E-464E-B2D2-D1EA751E5434}" type="presOf" srcId="{64A25339-3680-4AF7-AEA5-DD5A0018C7B5}" destId="{98178C36-FD09-4E03-A222-9BE8CCA1C283}" srcOrd="1" destOrd="0" presId="urn:microsoft.com/office/officeart/2005/8/layout/process1"/>
    <dgm:cxn modelId="{7DB213D3-5DA1-408D-9526-353DC2A4FF8C}" type="presOf" srcId="{E37B7797-C262-4648-AD1C-7BE4D9ED9B74}" destId="{81A02580-F6F0-45AC-8753-28929B639074}" srcOrd="1" destOrd="0" presId="urn:microsoft.com/office/officeart/2005/8/layout/process1"/>
    <dgm:cxn modelId="{A289E2E1-0809-49B7-9223-32F4E1291DFB}" type="presOf" srcId="{902BD9E0-A76D-49EE-BBF5-1692575632DE}" destId="{C9C950CA-5CBC-47B7-8117-A4B602C11209}" srcOrd="0" destOrd="0" presId="urn:microsoft.com/office/officeart/2005/8/layout/process1"/>
    <dgm:cxn modelId="{02F93BE8-195D-481A-8700-9D60F3A8CE8C}" type="presOf" srcId="{902BD9E0-A76D-49EE-BBF5-1692575632DE}" destId="{4710981E-0801-4C74-8ABF-F55E5E43ADD7}" srcOrd="1" destOrd="0" presId="urn:microsoft.com/office/officeart/2005/8/layout/process1"/>
    <dgm:cxn modelId="{E57C64EC-AE59-49CD-8204-A3E137BA5BD7}" type="presOf" srcId="{E37B7797-C262-4648-AD1C-7BE4D9ED9B74}" destId="{1F804354-4C85-40A3-A994-3B008799EB5E}" srcOrd="0" destOrd="0" presId="urn:microsoft.com/office/officeart/2005/8/layout/process1"/>
    <dgm:cxn modelId="{18326FF8-FF62-4317-9533-DE652EBEF4D4}" srcId="{F38AE03A-0F4C-400F-BB54-88618D340516}" destId="{97C42574-CB14-422C-AEC7-3A270941A9FF}" srcOrd="4" destOrd="0" parTransId="{65B6C973-CAE0-4F1A-88B7-834374896A2C}" sibTransId="{64BF5B26-FC0F-432D-BD40-BE0211C63F5D}"/>
    <dgm:cxn modelId="{8E777DF9-8766-42FA-A9FE-EA28E965CC2F}" type="presOf" srcId="{F38AE03A-0F4C-400F-BB54-88618D340516}" destId="{53B10D10-160E-41EE-9B13-A938D51E66F0}" srcOrd="0" destOrd="0" presId="urn:microsoft.com/office/officeart/2005/8/layout/process1"/>
    <dgm:cxn modelId="{97957DFD-344A-4BFD-AC40-0F152F06DF52}" srcId="{F38AE03A-0F4C-400F-BB54-88618D340516}" destId="{CF3988FA-9142-461A-9581-E634EE53EA7C}" srcOrd="0" destOrd="0" parTransId="{5FFA7C01-79D1-4D16-B9C8-42F58CD0CBF6}" sibTransId="{902BD9E0-A76D-49EE-BBF5-1692575632DE}"/>
    <dgm:cxn modelId="{B0CBBDFD-4D2B-43C8-BD6A-78C761FB9525}" type="presOf" srcId="{B517A2AB-94FA-47C4-87BB-EBD8DBF85CB4}" destId="{49430373-A5F1-41D4-9DBC-0FC8BAB86361}" srcOrd="0" destOrd="0" presId="urn:microsoft.com/office/officeart/2005/8/layout/process1"/>
    <dgm:cxn modelId="{1AF35079-7E40-4070-9CC2-FC0B2D70CEB4}" type="presParOf" srcId="{53B10D10-160E-41EE-9B13-A938D51E66F0}" destId="{90FF4CF5-9C69-4EAE-9962-CC0F4C3831CD}" srcOrd="0" destOrd="0" presId="urn:microsoft.com/office/officeart/2005/8/layout/process1"/>
    <dgm:cxn modelId="{F910C4B4-CB5D-4D84-92F0-8E4ACF8F4B11}" type="presParOf" srcId="{53B10D10-160E-41EE-9B13-A938D51E66F0}" destId="{C9C950CA-5CBC-47B7-8117-A4B602C11209}" srcOrd="1" destOrd="0" presId="urn:microsoft.com/office/officeart/2005/8/layout/process1"/>
    <dgm:cxn modelId="{294F1B44-5BC6-43CE-B1A8-6C420E7BA7A5}" type="presParOf" srcId="{C9C950CA-5CBC-47B7-8117-A4B602C11209}" destId="{4710981E-0801-4C74-8ABF-F55E5E43ADD7}" srcOrd="0" destOrd="0" presId="urn:microsoft.com/office/officeart/2005/8/layout/process1"/>
    <dgm:cxn modelId="{CA450D52-64C8-4C3C-B03B-509BD177CB0E}" type="presParOf" srcId="{53B10D10-160E-41EE-9B13-A938D51E66F0}" destId="{49430373-A5F1-41D4-9DBC-0FC8BAB86361}" srcOrd="2" destOrd="0" presId="urn:microsoft.com/office/officeart/2005/8/layout/process1"/>
    <dgm:cxn modelId="{DE1A6D5F-ABFB-4F82-93EC-5A303AC9DDD6}" type="presParOf" srcId="{53B10D10-160E-41EE-9B13-A938D51E66F0}" destId="{1F804354-4C85-40A3-A994-3B008799EB5E}" srcOrd="3" destOrd="0" presId="urn:microsoft.com/office/officeart/2005/8/layout/process1"/>
    <dgm:cxn modelId="{CF7422BF-BBEC-4286-AE2C-E2A5FEBE3307}" type="presParOf" srcId="{1F804354-4C85-40A3-A994-3B008799EB5E}" destId="{81A02580-F6F0-45AC-8753-28929B639074}" srcOrd="0" destOrd="0" presId="urn:microsoft.com/office/officeart/2005/8/layout/process1"/>
    <dgm:cxn modelId="{13FD6C16-C8E1-4838-8568-F15CB1F5121C}" type="presParOf" srcId="{53B10D10-160E-41EE-9B13-A938D51E66F0}" destId="{3E2CCC59-66A8-42C6-8C2B-6657B5C216A2}" srcOrd="4" destOrd="0" presId="urn:microsoft.com/office/officeart/2005/8/layout/process1"/>
    <dgm:cxn modelId="{079ADAFF-CC48-4C4F-9D7B-C62D5FA65EBC}" type="presParOf" srcId="{53B10D10-160E-41EE-9B13-A938D51E66F0}" destId="{83380F77-ADF6-4830-A2E2-1D2760B5E48A}" srcOrd="5" destOrd="0" presId="urn:microsoft.com/office/officeart/2005/8/layout/process1"/>
    <dgm:cxn modelId="{A9C986AB-339A-4CF2-AB4D-01782DB46CDD}" type="presParOf" srcId="{83380F77-ADF6-4830-A2E2-1D2760B5E48A}" destId="{013EA911-EE09-44F0-B9F2-F79FCDAF3EB3}" srcOrd="0" destOrd="0" presId="urn:microsoft.com/office/officeart/2005/8/layout/process1"/>
    <dgm:cxn modelId="{EC4A0C80-92D4-4D30-AB81-010D8EA2E292}" type="presParOf" srcId="{53B10D10-160E-41EE-9B13-A938D51E66F0}" destId="{C570337D-A4D2-4979-A6AB-AE5524C966A6}" srcOrd="6" destOrd="0" presId="urn:microsoft.com/office/officeart/2005/8/layout/process1"/>
    <dgm:cxn modelId="{B104E3DB-7A8A-43D9-BCCA-501E00661A3D}" type="presParOf" srcId="{53B10D10-160E-41EE-9B13-A938D51E66F0}" destId="{5EA7FCE3-45B8-4826-BA28-6BEFB96B7A50}" srcOrd="7" destOrd="0" presId="urn:microsoft.com/office/officeart/2005/8/layout/process1"/>
    <dgm:cxn modelId="{7EDD092A-0DAA-4457-84AD-D0A83F783C0D}" type="presParOf" srcId="{5EA7FCE3-45B8-4826-BA28-6BEFB96B7A50}" destId="{98178C36-FD09-4E03-A222-9BE8CCA1C283}" srcOrd="0" destOrd="0" presId="urn:microsoft.com/office/officeart/2005/8/layout/process1"/>
    <dgm:cxn modelId="{1091BC71-1EA8-4362-82F3-1BB7D3B5BD7C}" type="presParOf" srcId="{53B10D10-160E-41EE-9B13-A938D51E66F0}" destId="{431D0867-226D-4A5A-BE47-8070C878B5B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38AE03A-0F4C-400F-BB54-88618D340516}" type="doc">
      <dgm:prSet loTypeId="urn:microsoft.com/office/officeart/2005/8/layout/process1" loCatId="process" qsTypeId="urn:microsoft.com/office/officeart/2005/8/quickstyle/3d2" qsCatId="3D" csTypeId="urn:microsoft.com/office/officeart/2005/8/colors/accent1_2" csCatId="accent1" phldr="1"/>
      <dgm:spPr/>
    </dgm:pt>
    <dgm:pt modelId="{CF3988FA-9142-461A-9581-E634EE53EA7C}">
      <dgm:prSet phldrT="[Text]" custT="1"/>
      <dgm:spPr/>
      <dgm:t>
        <a:bodyPr anchor="t"/>
        <a:lstStyle/>
        <a:p>
          <a:pPr algn="ctr"/>
          <a:r>
            <a:rPr lang="en-GB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Requires targeted retention strategies</a:t>
          </a:r>
          <a:endParaRPr lang="en-GB" sz="9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FFA7C01-79D1-4D16-B9C8-42F58CD0CBF6}" type="parTrans" cxnId="{97957DFD-344A-4BFD-AC40-0F152F06DF52}">
      <dgm:prSet/>
      <dgm:spPr/>
      <dgm:t>
        <a:bodyPr/>
        <a:lstStyle/>
        <a:p>
          <a:endParaRPr lang="en-GB"/>
        </a:p>
      </dgm:t>
    </dgm:pt>
    <dgm:pt modelId="{902BD9E0-A76D-49EE-BBF5-1692575632DE}" type="sibTrans" cxnId="{97957DFD-344A-4BFD-AC40-0F152F06DF52}">
      <dgm:prSet phldrT="2" phldr="0"/>
      <dgm:spPr/>
      <dgm:t>
        <a:bodyPr/>
        <a:lstStyle/>
        <a:p>
          <a:endParaRPr lang="en-GB" dirty="0"/>
        </a:p>
      </dgm:t>
    </dgm:pt>
    <dgm:pt modelId="{B517A2AB-94FA-47C4-87BB-EBD8DBF85CB4}">
      <dgm:prSet custT="1"/>
      <dgm:spPr/>
      <dgm:t>
        <a:bodyPr anchor="t"/>
        <a:lstStyle/>
        <a:p>
          <a:r>
            <a: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Younger Employees - Elevated Turnover Risk</a:t>
          </a:r>
          <a:endParaRPr lang="en-GB" sz="125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49F7763-9BEA-4474-9CFC-394C331CDA88}" type="parTrans" cxnId="{9921AD69-328E-4BD4-ABAB-846D9649EE28}">
      <dgm:prSet/>
      <dgm:spPr/>
      <dgm:t>
        <a:bodyPr/>
        <a:lstStyle/>
        <a:p>
          <a:endParaRPr lang="en-GB"/>
        </a:p>
      </dgm:t>
    </dgm:pt>
    <dgm:pt modelId="{E37B7797-C262-4648-AD1C-7BE4D9ED9B74}" type="sibTrans" cxnId="{9921AD69-328E-4BD4-ABAB-846D9649EE28}">
      <dgm:prSet phldrT="3" phldr="0"/>
      <dgm:spPr/>
      <dgm:t>
        <a:bodyPr/>
        <a:lstStyle/>
        <a:p>
          <a:endParaRPr lang="en-GB" dirty="0"/>
        </a:p>
      </dgm:t>
    </dgm:pt>
    <dgm:pt modelId="{C037CF0C-AE14-4A1E-AED5-5F231A7BF9F8}">
      <dgm:prSet custT="1"/>
      <dgm:spPr/>
      <dgm:t>
        <a:bodyPr anchor="t"/>
        <a:lstStyle/>
        <a:p>
          <a:r>
            <a:rPr lang="en-GB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Technology Teams - Stronger Engagement</a:t>
          </a:r>
        </a:p>
        <a:p>
          <a:endParaRPr lang="en-GB" sz="900" dirty="0"/>
        </a:p>
      </dgm:t>
    </dgm:pt>
    <dgm:pt modelId="{97A251CC-C96D-488D-9D34-09384604E52B}" type="parTrans" cxnId="{9015D12D-ACCC-414C-A6BB-3B1127660373}">
      <dgm:prSet/>
      <dgm:spPr/>
      <dgm:t>
        <a:bodyPr/>
        <a:lstStyle/>
        <a:p>
          <a:endParaRPr lang="en-GB"/>
        </a:p>
      </dgm:t>
    </dgm:pt>
    <dgm:pt modelId="{6901B6DF-34A1-4261-B4F1-5DC8F5CE2F45}" type="sibTrans" cxnId="{9015D12D-ACCC-414C-A6BB-3B1127660373}">
      <dgm:prSet/>
      <dgm:spPr/>
      <dgm:t>
        <a:bodyPr/>
        <a:lstStyle/>
        <a:p>
          <a:endParaRPr lang="en-GB"/>
        </a:p>
      </dgm:t>
    </dgm:pt>
    <dgm:pt modelId="{1CC91B6F-C63F-425D-B614-47035990CD9F}">
      <dgm:prSet custT="1"/>
      <dgm:spPr/>
      <dgm:t>
        <a:bodyPr anchor="t"/>
        <a:lstStyle/>
        <a:p>
          <a:r>
            <a:rPr lang="en-GB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Self-Ratings Exceed Manager Ratings</a:t>
          </a:r>
        </a:p>
        <a:p>
          <a:endParaRPr lang="en-GB" sz="125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96B3405-116A-4610-AB2D-5AE20652CD8F}" type="parTrans" cxnId="{B1602994-6C35-4736-A53F-BE8B13EEC7C2}">
      <dgm:prSet/>
      <dgm:spPr/>
      <dgm:t>
        <a:bodyPr/>
        <a:lstStyle/>
        <a:p>
          <a:endParaRPr lang="en-GB"/>
        </a:p>
      </dgm:t>
    </dgm:pt>
    <dgm:pt modelId="{64A25339-3680-4AF7-AEA5-DD5A0018C7B5}" type="sibTrans" cxnId="{B1602994-6C35-4736-A53F-BE8B13EEC7C2}">
      <dgm:prSet/>
      <dgm:spPr/>
      <dgm:t>
        <a:bodyPr/>
        <a:lstStyle/>
        <a:p>
          <a:endParaRPr lang="en-GB"/>
        </a:p>
      </dgm:t>
    </dgm:pt>
    <dgm:pt modelId="{9EE5F85E-9CEB-4127-AD7A-C1795F507B0C}">
      <dgm:prSet custT="1"/>
      <dgm:spPr/>
      <dgm:t>
        <a:bodyPr anchor="t"/>
        <a:lstStyle/>
        <a:p>
          <a:r>
            <a:rPr lang="en-US" sz="12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Burnout Concentrated in Overtime Groups</a:t>
          </a:r>
          <a:endParaRPr lang="en-GB" sz="125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endParaRPr lang="en-GB" sz="900" dirty="0"/>
        </a:p>
      </dgm:t>
    </dgm:pt>
    <dgm:pt modelId="{20C693C0-A6E7-434F-9E3D-B906F78B4E2A}" type="parTrans" cxnId="{00DE24C7-4D2A-4E6A-A4DD-1273206C2D83}">
      <dgm:prSet/>
      <dgm:spPr/>
      <dgm:t>
        <a:bodyPr/>
        <a:lstStyle/>
        <a:p>
          <a:endParaRPr lang="en-GB"/>
        </a:p>
      </dgm:t>
    </dgm:pt>
    <dgm:pt modelId="{0ED9394F-EBD5-41AF-94FE-33A004415F2D}" type="sibTrans" cxnId="{00DE24C7-4D2A-4E6A-A4DD-1273206C2D83}">
      <dgm:prSet/>
      <dgm:spPr/>
      <dgm:t>
        <a:bodyPr/>
        <a:lstStyle/>
        <a:p>
          <a:endParaRPr lang="en-GB"/>
        </a:p>
      </dgm:t>
    </dgm:pt>
    <dgm:pt modelId="{53B10D10-160E-41EE-9B13-A938D51E66F0}" type="pres">
      <dgm:prSet presAssocID="{F38AE03A-0F4C-400F-BB54-88618D340516}" presName="Name0" presStyleCnt="0">
        <dgm:presLayoutVars>
          <dgm:dir/>
          <dgm:resizeHandles val="exact"/>
        </dgm:presLayoutVars>
      </dgm:prSet>
      <dgm:spPr/>
    </dgm:pt>
    <dgm:pt modelId="{90FF4CF5-9C69-4EAE-9962-CC0F4C3831CD}" type="pres">
      <dgm:prSet presAssocID="{CF3988FA-9142-461A-9581-E634EE53EA7C}" presName="node" presStyleLbl="node1" presStyleIdx="0" presStyleCnt="5">
        <dgm:presLayoutVars>
          <dgm:bulletEnabled val="1"/>
        </dgm:presLayoutVars>
      </dgm:prSet>
      <dgm:spPr/>
    </dgm:pt>
    <dgm:pt modelId="{C9C950CA-5CBC-47B7-8117-A4B602C11209}" type="pres">
      <dgm:prSet presAssocID="{902BD9E0-A76D-49EE-BBF5-1692575632DE}" presName="sibTrans" presStyleLbl="sibTrans2D1" presStyleIdx="0" presStyleCnt="4"/>
      <dgm:spPr/>
    </dgm:pt>
    <dgm:pt modelId="{4710981E-0801-4C74-8ABF-F55E5E43ADD7}" type="pres">
      <dgm:prSet presAssocID="{902BD9E0-A76D-49EE-BBF5-1692575632DE}" presName="connectorText" presStyleLbl="sibTrans2D1" presStyleIdx="0" presStyleCnt="4"/>
      <dgm:spPr/>
    </dgm:pt>
    <dgm:pt modelId="{49430373-A5F1-41D4-9DBC-0FC8BAB86361}" type="pres">
      <dgm:prSet presAssocID="{B517A2AB-94FA-47C4-87BB-EBD8DBF85CB4}" presName="node" presStyleLbl="node1" presStyleIdx="1" presStyleCnt="5">
        <dgm:presLayoutVars>
          <dgm:bulletEnabled val="1"/>
        </dgm:presLayoutVars>
      </dgm:prSet>
      <dgm:spPr/>
    </dgm:pt>
    <dgm:pt modelId="{1F804354-4C85-40A3-A994-3B008799EB5E}" type="pres">
      <dgm:prSet presAssocID="{E37B7797-C262-4648-AD1C-7BE4D9ED9B74}" presName="sibTrans" presStyleLbl="sibTrans2D1" presStyleIdx="1" presStyleCnt="4"/>
      <dgm:spPr/>
    </dgm:pt>
    <dgm:pt modelId="{81A02580-F6F0-45AC-8753-28929B639074}" type="pres">
      <dgm:prSet presAssocID="{E37B7797-C262-4648-AD1C-7BE4D9ED9B74}" presName="connectorText" presStyleLbl="sibTrans2D1" presStyleIdx="1" presStyleCnt="4"/>
      <dgm:spPr/>
    </dgm:pt>
    <dgm:pt modelId="{3E2CCC59-66A8-42C6-8C2B-6657B5C216A2}" type="pres">
      <dgm:prSet presAssocID="{C037CF0C-AE14-4A1E-AED5-5F231A7BF9F8}" presName="node" presStyleLbl="node1" presStyleIdx="2" presStyleCnt="5">
        <dgm:presLayoutVars>
          <dgm:bulletEnabled val="1"/>
        </dgm:presLayoutVars>
      </dgm:prSet>
      <dgm:spPr/>
    </dgm:pt>
    <dgm:pt modelId="{83380F77-ADF6-4830-A2E2-1D2760B5E48A}" type="pres">
      <dgm:prSet presAssocID="{6901B6DF-34A1-4261-B4F1-5DC8F5CE2F45}" presName="sibTrans" presStyleLbl="sibTrans2D1" presStyleIdx="2" presStyleCnt="4"/>
      <dgm:spPr/>
    </dgm:pt>
    <dgm:pt modelId="{013EA911-EE09-44F0-B9F2-F79FCDAF3EB3}" type="pres">
      <dgm:prSet presAssocID="{6901B6DF-34A1-4261-B4F1-5DC8F5CE2F45}" presName="connectorText" presStyleLbl="sibTrans2D1" presStyleIdx="2" presStyleCnt="4"/>
      <dgm:spPr/>
    </dgm:pt>
    <dgm:pt modelId="{C570337D-A4D2-4979-A6AB-AE5524C966A6}" type="pres">
      <dgm:prSet presAssocID="{1CC91B6F-C63F-425D-B614-47035990CD9F}" presName="node" presStyleLbl="node1" presStyleIdx="3" presStyleCnt="5">
        <dgm:presLayoutVars>
          <dgm:bulletEnabled val="1"/>
        </dgm:presLayoutVars>
      </dgm:prSet>
      <dgm:spPr/>
    </dgm:pt>
    <dgm:pt modelId="{C0941367-56C7-4E37-B159-DDF9CE89FEF8}" type="pres">
      <dgm:prSet presAssocID="{64A25339-3680-4AF7-AEA5-DD5A0018C7B5}" presName="sibTrans" presStyleLbl="sibTrans2D1" presStyleIdx="3" presStyleCnt="4"/>
      <dgm:spPr/>
    </dgm:pt>
    <dgm:pt modelId="{5EC4DB31-A964-4DA8-88CA-319D3AC14E37}" type="pres">
      <dgm:prSet presAssocID="{64A25339-3680-4AF7-AEA5-DD5A0018C7B5}" presName="connectorText" presStyleLbl="sibTrans2D1" presStyleIdx="3" presStyleCnt="4"/>
      <dgm:spPr/>
    </dgm:pt>
    <dgm:pt modelId="{992FB4B4-0677-47AE-A079-6F5D7EFFD471}" type="pres">
      <dgm:prSet presAssocID="{9EE5F85E-9CEB-4127-AD7A-C1795F507B0C}" presName="node" presStyleLbl="node1" presStyleIdx="4" presStyleCnt="5">
        <dgm:presLayoutVars>
          <dgm:bulletEnabled val="1"/>
        </dgm:presLayoutVars>
      </dgm:prSet>
      <dgm:spPr/>
    </dgm:pt>
  </dgm:ptLst>
  <dgm:cxnLst>
    <dgm:cxn modelId="{9015D12D-ACCC-414C-A6BB-3B1127660373}" srcId="{F38AE03A-0F4C-400F-BB54-88618D340516}" destId="{C037CF0C-AE14-4A1E-AED5-5F231A7BF9F8}" srcOrd="2" destOrd="0" parTransId="{97A251CC-C96D-488D-9D34-09384604E52B}" sibTransId="{6901B6DF-34A1-4261-B4F1-5DC8F5CE2F45}"/>
    <dgm:cxn modelId="{D0F63C31-32C1-4501-9738-552A5F04C361}" type="presOf" srcId="{64A25339-3680-4AF7-AEA5-DD5A0018C7B5}" destId="{5EC4DB31-A964-4DA8-88CA-319D3AC14E37}" srcOrd="1" destOrd="0" presId="urn:microsoft.com/office/officeart/2005/8/layout/process1"/>
    <dgm:cxn modelId="{E9B4B841-AD2B-4A15-A740-E8B89C078BBD}" type="presOf" srcId="{6901B6DF-34A1-4261-B4F1-5DC8F5CE2F45}" destId="{013EA911-EE09-44F0-B9F2-F79FCDAF3EB3}" srcOrd="1" destOrd="0" presId="urn:microsoft.com/office/officeart/2005/8/layout/process1"/>
    <dgm:cxn modelId="{9921AD69-328E-4BD4-ABAB-846D9649EE28}" srcId="{F38AE03A-0F4C-400F-BB54-88618D340516}" destId="{B517A2AB-94FA-47C4-87BB-EBD8DBF85CB4}" srcOrd="1" destOrd="0" parTransId="{749F7763-9BEA-4474-9CFC-394C331CDA88}" sibTransId="{E37B7797-C262-4648-AD1C-7BE4D9ED9B74}"/>
    <dgm:cxn modelId="{C983326A-D101-4428-8862-AED0FA2F7E25}" type="presOf" srcId="{1CC91B6F-C63F-425D-B614-47035990CD9F}" destId="{C570337D-A4D2-4979-A6AB-AE5524C966A6}" srcOrd="0" destOrd="0" presId="urn:microsoft.com/office/officeart/2005/8/layout/process1"/>
    <dgm:cxn modelId="{0BF82454-5252-457D-9AE3-D8BD1C085BE6}" type="presOf" srcId="{9EE5F85E-9CEB-4127-AD7A-C1795F507B0C}" destId="{992FB4B4-0677-47AE-A079-6F5D7EFFD471}" srcOrd="0" destOrd="0" presId="urn:microsoft.com/office/officeart/2005/8/layout/process1"/>
    <dgm:cxn modelId="{7851E182-D004-4811-A0BA-BC954FDC0F03}" type="presOf" srcId="{C037CF0C-AE14-4A1E-AED5-5F231A7BF9F8}" destId="{3E2CCC59-66A8-42C6-8C2B-6657B5C216A2}" srcOrd="0" destOrd="0" presId="urn:microsoft.com/office/officeart/2005/8/layout/process1"/>
    <dgm:cxn modelId="{4085E68F-B2A5-4F8F-9C41-B936C76DA9B5}" type="presOf" srcId="{6901B6DF-34A1-4261-B4F1-5DC8F5CE2F45}" destId="{83380F77-ADF6-4830-A2E2-1D2760B5E48A}" srcOrd="0" destOrd="0" presId="urn:microsoft.com/office/officeart/2005/8/layout/process1"/>
    <dgm:cxn modelId="{B1602994-6C35-4736-A53F-BE8B13EEC7C2}" srcId="{F38AE03A-0F4C-400F-BB54-88618D340516}" destId="{1CC91B6F-C63F-425D-B614-47035990CD9F}" srcOrd="3" destOrd="0" parTransId="{696B3405-116A-4610-AB2D-5AE20652CD8F}" sibTransId="{64A25339-3680-4AF7-AEA5-DD5A0018C7B5}"/>
    <dgm:cxn modelId="{1018DBC1-2A83-4EE6-B983-6976F5710C7A}" type="presOf" srcId="{CF3988FA-9142-461A-9581-E634EE53EA7C}" destId="{90FF4CF5-9C69-4EAE-9962-CC0F4C3831CD}" srcOrd="0" destOrd="0" presId="urn:microsoft.com/office/officeart/2005/8/layout/process1"/>
    <dgm:cxn modelId="{00DE24C7-4D2A-4E6A-A4DD-1273206C2D83}" srcId="{F38AE03A-0F4C-400F-BB54-88618D340516}" destId="{9EE5F85E-9CEB-4127-AD7A-C1795F507B0C}" srcOrd="4" destOrd="0" parTransId="{20C693C0-A6E7-434F-9E3D-B906F78B4E2A}" sibTransId="{0ED9394F-EBD5-41AF-94FE-33A004415F2D}"/>
    <dgm:cxn modelId="{7DB213D3-5DA1-408D-9526-353DC2A4FF8C}" type="presOf" srcId="{E37B7797-C262-4648-AD1C-7BE4D9ED9B74}" destId="{81A02580-F6F0-45AC-8753-28929B639074}" srcOrd="1" destOrd="0" presId="urn:microsoft.com/office/officeart/2005/8/layout/process1"/>
    <dgm:cxn modelId="{A289E2E1-0809-49B7-9223-32F4E1291DFB}" type="presOf" srcId="{902BD9E0-A76D-49EE-BBF5-1692575632DE}" destId="{C9C950CA-5CBC-47B7-8117-A4B602C11209}" srcOrd="0" destOrd="0" presId="urn:microsoft.com/office/officeart/2005/8/layout/process1"/>
    <dgm:cxn modelId="{02F93BE8-195D-481A-8700-9D60F3A8CE8C}" type="presOf" srcId="{902BD9E0-A76D-49EE-BBF5-1692575632DE}" destId="{4710981E-0801-4C74-8ABF-F55E5E43ADD7}" srcOrd="1" destOrd="0" presId="urn:microsoft.com/office/officeart/2005/8/layout/process1"/>
    <dgm:cxn modelId="{E57C64EC-AE59-49CD-8204-A3E137BA5BD7}" type="presOf" srcId="{E37B7797-C262-4648-AD1C-7BE4D9ED9B74}" destId="{1F804354-4C85-40A3-A994-3B008799EB5E}" srcOrd="0" destOrd="0" presId="urn:microsoft.com/office/officeart/2005/8/layout/process1"/>
    <dgm:cxn modelId="{23F934F1-A527-4FE2-AC52-DCB126214BE4}" type="presOf" srcId="{64A25339-3680-4AF7-AEA5-DD5A0018C7B5}" destId="{C0941367-56C7-4E37-B159-DDF9CE89FEF8}" srcOrd="0" destOrd="0" presId="urn:microsoft.com/office/officeart/2005/8/layout/process1"/>
    <dgm:cxn modelId="{8E777DF9-8766-42FA-A9FE-EA28E965CC2F}" type="presOf" srcId="{F38AE03A-0F4C-400F-BB54-88618D340516}" destId="{53B10D10-160E-41EE-9B13-A938D51E66F0}" srcOrd="0" destOrd="0" presId="urn:microsoft.com/office/officeart/2005/8/layout/process1"/>
    <dgm:cxn modelId="{97957DFD-344A-4BFD-AC40-0F152F06DF52}" srcId="{F38AE03A-0F4C-400F-BB54-88618D340516}" destId="{CF3988FA-9142-461A-9581-E634EE53EA7C}" srcOrd="0" destOrd="0" parTransId="{5FFA7C01-79D1-4D16-B9C8-42F58CD0CBF6}" sibTransId="{902BD9E0-A76D-49EE-BBF5-1692575632DE}"/>
    <dgm:cxn modelId="{B0CBBDFD-4D2B-43C8-BD6A-78C761FB9525}" type="presOf" srcId="{B517A2AB-94FA-47C4-87BB-EBD8DBF85CB4}" destId="{49430373-A5F1-41D4-9DBC-0FC8BAB86361}" srcOrd="0" destOrd="0" presId="urn:microsoft.com/office/officeart/2005/8/layout/process1"/>
    <dgm:cxn modelId="{1AF35079-7E40-4070-9CC2-FC0B2D70CEB4}" type="presParOf" srcId="{53B10D10-160E-41EE-9B13-A938D51E66F0}" destId="{90FF4CF5-9C69-4EAE-9962-CC0F4C3831CD}" srcOrd="0" destOrd="0" presId="urn:microsoft.com/office/officeart/2005/8/layout/process1"/>
    <dgm:cxn modelId="{F910C4B4-CB5D-4D84-92F0-8E4ACF8F4B11}" type="presParOf" srcId="{53B10D10-160E-41EE-9B13-A938D51E66F0}" destId="{C9C950CA-5CBC-47B7-8117-A4B602C11209}" srcOrd="1" destOrd="0" presId="urn:microsoft.com/office/officeart/2005/8/layout/process1"/>
    <dgm:cxn modelId="{294F1B44-5BC6-43CE-B1A8-6C420E7BA7A5}" type="presParOf" srcId="{C9C950CA-5CBC-47B7-8117-A4B602C11209}" destId="{4710981E-0801-4C74-8ABF-F55E5E43ADD7}" srcOrd="0" destOrd="0" presId="urn:microsoft.com/office/officeart/2005/8/layout/process1"/>
    <dgm:cxn modelId="{CA450D52-64C8-4C3C-B03B-509BD177CB0E}" type="presParOf" srcId="{53B10D10-160E-41EE-9B13-A938D51E66F0}" destId="{49430373-A5F1-41D4-9DBC-0FC8BAB86361}" srcOrd="2" destOrd="0" presId="urn:microsoft.com/office/officeart/2005/8/layout/process1"/>
    <dgm:cxn modelId="{DE1A6D5F-ABFB-4F82-93EC-5A303AC9DDD6}" type="presParOf" srcId="{53B10D10-160E-41EE-9B13-A938D51E66F0}" destId="{1F804354-4C85-40A3-A994-3B008799EB5E}" srcOrd="3" destOrd="0" presId="urn:microsoft.com/office/officeart/2005/8/layout/process1"/>
    <dgm:cxn modelId="{CF7422BF-BBEC-4286-AE2C-E2A5FEBE3307}" type="presParOf" srcId="{1F804354-4C85-40A3-A994-3B008799EB5E}" destId="{81A02580-F6F0-45AC-8753-28929B639074}" srcOrd="0" destOrd="0" presId="urn:microsoft.com/office/officeart/2005/8/layout/process1"/>
    <dgm:cxn modelId="{13FD6C16-C8E1-4838-8568-F15CB1F5121C}" type="presParOf" srcId="{53B10D10-160E-41EE-9B13-A938D51E66F0}" destId="{3E2CCC59-66A8-42C6-8C2B-6657B5C216A2}" srcOrd="4" destOrd="0" presId="urn:microsoft.com/office/officeart/2005/8/layout/process1"/>
    <dgm:cxn modelId="{079ADAFF-CC48-4C4F-9D7B-C62D5FA65EBC}" type="presParOf" srcId="{53B10D10-160E-41EE-9B13-A938D51E66F0}" destId="{83380F77-ADF6-4830-A2E2-1D2760B5E48A}" srcOrd="5" destOrd="0" presId="urn:microsoft.com/office/officeart/2005/8/layout/process1"/>
    <dgm:cxn modelId="{A9C986AB-339A-4CF2-AB4D-01782DB46CDD}" type="presParOf" srcId="{83380F77-ADF6-4830-A2E2-1D2760B5E48A}" destId="{013EA911-EE09-44F0-B9F2-F79FCDAF3EB3}" srcOrd="0" destOrd="0" presId="urn:microsoft.com/office/officeart/2005/8/layout/process1"/>
    <dgm:cxn modelId="{EC4A0C80-92D4-4D30-AB81-010D8EA2E292}" type="presParOf" srcId="{53B10D10-160E-41EE-9B13-A938D51E66F0}" destId="{C570337D-A4D2-4979-A6AB-AE5524C966A6}" srcOrd="6" destOrd="0" presId="urn:microsoft.com/office/officeart/2005/8/layout/process1"/>
    <dgm:cxn modelId="{C37D9998-41E5-4256-B1FD-2576F8232A83}" type="presParOf" srcId="{53B10D10-160E-41EE-9B13-A938D51E66F0}" destId="{C0941367-56C7-4E37-B159-DDF9CE89FEF8}" srcOrd="7" destOrd="0" presId="urn:microsoft.com/office/officeart/2005/8/layout/process1"/>
    <dgm:cxn modelId="{2D311715-8B07-468D-A8A5-AEB7AFE26285}" type="presParOf" srcId="{C0941367-56C7-4E37-B159-DDF9CE89FEF8}" destId="{5EC4DB31-A964-4DA8-88CA-319D3AC14E37}" srcOrd="0" destOrd="0" presId="urn:microsoft.com/office/officeart/2005/8/layout/process1"/>
    <dgm:cxn modelId="{FEA9529C-1364-4392-9CA4-3A4DB2BA80A7}" type="presParOf" srcId="{53B10D10-160E-41EE-9B13-A938D51E66F0}" destId="{992FB4B4-0677-47AE-A079-6F5D7EFFD471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F4CF5-9C69-4EAE-9962-CC0F4C3831CD}">
      <dsp:nvSpPr>
        <dsp:cNvPr id="0" name=""/>
        <dsp:cNvSpPr/>
      </dsp:nvSpPr>
      <dsp:spPr>
        <a:xfrm>
          <a:off x="4621" y="1819071"/>
          <a:ext cx="2020453" cy="1780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Identify turnover patterns and at-risk employee groups</a:t>
          </a:r>
          <a:endParaRPr lang="en-GB" sz="1800" kern="1200" dirty="0"/>
        </a:p>
      </dsp:txBody>
      <dsp:txXfrm>
        <a:off x="56771" y="1871221"/>
        <a:ext cx="1916153" cy="1676224"/>
      </dsp:txXfrm>
    </dsp:sp>
    <dsp:sp modelId="{C9C950CA-5CBC-47B7-8117-A4B602C11209}">
      <dsp:nvSpPr>
        <dsp:cNvPr id="0" name=""/>
        <dsp:cNvSpPr/>
      </dsp:nvSpPr>
      <dsp:spPr>
        <a:xfrm>
          <a:off x="2227119" y="2458797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 dirty="0"/>
        </a:p>
      </dsp:txBody>
      <dsp:txXfrm>
        <a:off x="2227119" y="2559011"/>
        <a:ext cx="299835" cy="300644"/>
      </dsp:txXfrm>
    </dsp:sp>
    <dsp:sp modelId="{49430373-A5F1-41D4-9DBC-0FC8BAB86361}">
      <dsp:nvSpPr>
        <dsp:cNvPr id="0" name=""/>
        <dsp:cNvSpPr/>
      </dsp:nvSpPr>
      <dsp:spPr>
        <a:xfrm>
          <a:off x="2833255" y="1819071"/>
          <a:ext cx="2020453" cy="1780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Measure satisfaction, wellbeing, and work-life balance</a:t>
          </a:r>
          <a:endParaRPr lang="en-GB" sz="1800" kern="1200" dirty="0"/>
        </a:p>
      </dsp:txBody>
      <dsp:txXfrm>
        <a:off x="2885405" y="1871221"/>
        <a:ext cx="1916153" cy="1676224"/>
      </dsp:txXfrm>
    </dsp:sp>
    <dsp:sp modelId="{1F804354-4C85-40A3-A994-3B008799EB5E}">
      <dsp:nvSpPr>
        <dsp:cNvPr id="0" name=""/>
        <dsp:cNvSpPr/>
      </dsp:nvSpPr>
      <dsp:spPr>
        <a:xfrm>
          <a:off x="5055754" y="2458797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 dirty="0"/>
        </a:p>
      </dsp:txBody>
      <dsp:txXfrm>
        <a:off x="5055754" y="2559011"/>
        <a:ext cx="299835" cy="300644"/>
      </dsp:txXfrm>
    </dsp:sp>
    <dsp:sp modelId="{3E2CCC59-66A8-42C6-8C2B-6657B5C216A2}">
      <dsp:nvSpPr>
        <dsp:cNvPr id="0" name=""/>
        <dsp:cNvSpPr/>
      </dsp:nvSpPr>
      <dsp:spPr>
        <a:xfrm>
          <a:off x="5661890" y="1819071"/>
          <a:ext cx="2020453" cy="1780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Analyse ratings, training impact, and role-level output</a:t>
          </a:r>
          <a:endParaRPr lang="en-GB" sz="1800" kern="1200" dirty="0"/>
        </a:p>
      </dsp:txBody>
      <dsp:txXfrm>
        <a:off x="5714040" y="1871221"/>
        <a:ext cx="1916153" cy="1676224"/>
      </dsp:txXfrm>
    </dsp:sp>
    <dsp:sp modelId="{83380F77-ADF6-4830-A2E2-1D2760B5E48A}">
      <dsp:nvSpPr>
        <dsp:cNvPr id="0" name=""/>
        <dsp:cNvSpPr/>
      </dsp:nvSpPr>
      <dsp:spPr>
        <a:xfrm>
          <a:off x="7884389" y="2458797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400" kern="1200"/>
        </a:p>
      </dsp:txBody>
      <dsp:txXfrm>
        <a:off x="7884389" y="2559011"/>
        <a:ext cx="299835" cy="300644"/>
      </dsp:txXfrm>
    </dsp:sp>
    <dsp:sp modelId="{C570337D-A4D2-4979-A6AB-AE5524C966A6}">
      <dsp:nvSpPr>
        <dsp:cNvPr id="0" name=""/>
        <dsp:cNvSpPr/>
      </dsp:nvSpPr>
      <dsp:spPr>
        <a:xfrm>
          <a:off x="8490525" y="1819071"/>
          <a:ext cx="2020453" cy="17805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Monitor burnout risk and environment satisfaction</a:t>
          </a:r>
          <a:endParaRPr lang="en-GB" sz="1800" kern="1200" dirty="0"/>
        </a:p>
      </dsp:txBody>
      <dsp:txXfrm>
        <a:off x="8542675" y="1871221"/>
        <a:ext cx="1916153" cy="16762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F4CF5-9C69-4EAE-9962-CC0F4C3831CD}">
      <dsp:nvSpPr>
        <dsp:cNvPr id="0" name=""/>
        <dsp:cNvSpPr/>
      </dsp:nvSpPr>
      <dsp:spPr>
        <a:xfrm>
          <a:off x="4621" y="0"/>
          <a:ext cx="2020453" cy="533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Attrition</a:t>
          </a:r>
        </a:p>
      </dsp:txBody>
      <dsp:txXfrm>
        <a:off x="20244" y="15623"/>
        <a:ext cx="1989207" cy="502154"/>
      </dsp:txXfrm>
    </dsp:sp>
    <dsp:sp modelId="{C9C950CA-5CBC-47B7-8117-A4B602C11209}">
      <dsp:nvSpPr>
        <dsp:cNvPr id="0" name=""/>
        <dsp:cNvSpPr/>
      </dsp:nvSpPr>
      <dsp:spPr>
        <a:xfrm>
          <a:off x="2227119" y="16163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 dirty="0"/>
        </a:p>
      </dsp:txBody>
      <dsp:txXfrm>
        <a:off x="2227119" y="116377"/>
        <a:ext cx="299835" cy="300644"/>
      </dsp:txXfrm>
    </dsp:sp>
    <dsp:sp modelId="{49430373-A5F1-41D4-9DBC-0FC8BAB86361}">
      <dsp:nvSpPr>
        <dsp:cNvPr id="0" name=""/>
        <dsp:cNvSpPr/>
      </dsp:nvSpPr>
      <dsp:spPr>
        <a:xfrm>
          <a:off x="2833255" y="0"/>
          <a:ext cx="2020453" cy="533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Engagement</a:t>
          </a:r>
        </a:p>
      </dsp:txBody>
      <dsp:txXfrm>
        <a:off x="2848878" y="15623"/>
        <a:ext cx="1989207" cy="502154"/>
      </dsp:txXfrm>
    </dsp:sp>
    <dsp:sp modelId="{1F804354-4C85-40A3-A994-3B008799EB5E}">
      <dsp:nvSpPr>
        <dsp:cNvPr id="0" name=""/>
        <dsp:cNvSpPr/>
      </dsp:nvSpPr>
      <dsp:spPr>
        <a:xfrm>
          <a:off x="5055754" y="16163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 dirty="0"/>
        </a:p>
      </dsp:txBody>
      <dsp:txXfrm>
        <a:off x="5055754" y="116377"/>
        <a:ext cx="299835" cy="300644"/>
      </dsp:txXfrm>
    </dsp:sp>
    <dsp:sp modelId="{3E2CCC59-66A8-42C6-8C2B-6657B5C216A2}">
      <dsp:nvSpPr>
        <dsp:cNvPr id="0" name=""/>
        <dsp:cNvSpPr/>
      </dsp:nvSpPr>
      <dsp:spPr>
        <a:xfrm>
          <a:off x="5661890" y="0"/>
          <a:ext cx="2020453" cy="533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Performance</a:t>
          </a:r>
        </a:p>
      </dsp:txBody>
      <dsp:txXfrm>
        <a:off x="5677513" y="15623"/>
        <a:ext cx="1989207" cy="502154"/>
      </dsp:txXfrm>
    </dsp:sp>
    <dsp:sp modelId="{83380F77-ADF6-4830-A2E2-1D2760B5E48A}">
      <dsp:nvSpPr>
        <dsp:cNvPr id="0" name=""/>
        <dsp:cNvSpPr/>
      </dsp:nvSpPr>
      <dsp:spPr>
        <a:xfrm>
          <a:off x="7884389" y="16163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>
        <a:off x="7884389" y="116377"/>
        <a:ext cx="299835" cy="300644"/>
      </dsp:txXfrm>
    </dsp:sp>
    <dsp:sp modelId="{C570337D-A4D2-4979-A6AB-AE5524C966A6}">
      <dsp:nvSpPr>
        <dsp:cNvPr id="0" name=""/>
        <dsp:cNvSpPr/>
      </dsp:nvSpPr>
      <dsp:spPr>
        <a:xfrm>
          <a:off x="8490525" y="0"/>
          <a:ext cx="2020453" cy="533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Wellbeing</a:t>
          </a:r>
        </a:p>
      </dsp:txBody>
      <dsp:txXfrm>
        <a:off x="8506148" y="15623"/>
        <a:ext cx="1989207" cy="5021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F4CF5-9C69-4EAE-9962-CC0F4C3831CD}">
      <dsp:nvSpPr>
        <dsp:cNvPr id="0" name=""/>
        <dsp:cNvSpPr/>
      </dsp:nvSpPr>
      <dsp:spPr>
        <a:xfrm>
          <a:off x="5208" y="1647443"/>
          <a:ext cx="1614544" cy="1876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The Sales function recorded the highest turnover, </a:t>
          </a:r>
          <a:r>
            <a:rPr lang="en-US" sz="1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signalling</a:t>
          </a: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 need for targeted retention interventions.</a:t>
          </a:r>
          <a:endParaRPr lang="en-GB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 dirty="0"/>
        </a:p>
      </dsp:txBody>
      <dsp:txXfrm>
        <a:off x="52496" y="1694731"/>
        <a:ext cx="1519968" cy="1782332"/>
      </dsp:txXfrm>
    </dsp:sp>
    <dsp:sp modelId="{C9C950CA-5CBC-47B7-8117-A4B602C11209}">
      <dsp:nvSpPr>
        <dsp:cNvPr id="0" name=""/>
        <dsp:cNvSpPr/>
      </dsp:nvSpPr>
      <dsp:spPr>
        <a:xfrm>
          <a:off x="1781207" y="2385694"/>
          <a:ext cx="342283" cy="4004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 dirty="0"/>
        </a:p>
      </dsp:txBody>
      <dsp:txXfrm>
        <a:off x="1781207" y="2465775"/>
        <a:ext cx="239598" cy="240245"/>
      </dsp:txXfrm>
    </dsp:sp>
    <dsp:sp modelId="{49430373-A5F1-41D4-9DBC-0FC8BAB86361}">
      <dsp:nvSpPr>
        <dsp:cNvPr id="0" name=""/>
        <dsp:cNvSpPr/>
      </dsp:nvSpPr>
      <dsp:spPr>
        <a:xfrm>
          <a:off x="2265570" y="1647443"/>
          <a:ext cx="1614544" cy="1876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Younger age bands demonstrated higher attrition rates, pointing to career development and onboarding gaps.</a:t>
          </a:r>
          <a:endParaRPr lang="en-GB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 dirty="0"/>
        </a:p>
      </dsp:txBody>
      <dsp:txXfrm>
        <a:off x="2312858" y="1694731"/>
        <a:ext cx="1519968" cy="1782332"/>
      </dsp:txXfrm>
    </dsp:sp>
    <dsp:sp modelId="{1F804354-4C85-40A3-A994-3B008799EB5E}">
      <dsp:nvSpPr>
        <dsp:cNvPr id="0" name=""/>
        <dsp:cNvSpPr/>
      </dsp:nvSpPr>
      <dsp:spPr>
        <a:xfrm>
          <a:off x="4041570" y="2385694"/>
          <a:ext cx="342283" cy="4004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 dirty="0"/>
        </a:p>
      </dsp:txBody>
      <dsp:txXfrm>
        <a:off x="4041570" y="2465775"/>
        <a:ext cx="239598" cy="240245"/>
      </dsp:txXfrm>
    </dsp:sp>
    <dsp:sp modelId="{3E2CCC59-66A8-42C6-8C2B-6657B5C216A2}">
      <dsp:nvSpPr>
        <dsp:cNvPr id="0" name=""/>
        <dsp:cNvSpPr/>
      </dsp:nvSpPr>
      <dsp:spPr>
        <a:xfrm>
          <a:off x="4525933" y="1647443"/>
          <a:ext cx="1614544" cy="1876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Technology employees showed higher engagement scores, reflecting positive team culture and role satisfaction.</a:t>
          </a:r>
          <a:endParaRPr lang="en-GB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600" kern="1200" dirty="0"/>
        </a:p>
      </dsp:txBody>
      <dsp:txXfrm>
        <a:off x="4573221" y="1694731"/>
        <a:ext cx="1519968" cy="1782332"/>
      </dsp:txXfrm>
    </dsp:sp>
    <dsp:sp modelId="{83380F77-ADF6-4830-A2E2-1D2760B5E48A}">
      <dsp:nvSpPr>
        <dsp:cNvPr id="0" name=""/>
        <dsp:cNvSpPr/>
      </dsp:nvSpPr>
      <dsp:spPr>
        <a:xfrm>
          <a:off x="6301932" y="2385694"/>
          <a:ext cx="342283" cy="4004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6301932" y="2465775"/>
        <a:ext cx="239598" cy="240245"/>
      </dsp:txXfrm>
    </dsp:sp>
    <dsp:sp modelId="{C570337D-A4D2-4979-A6AB-AE5524C966A6}">
      <dsp:nvSpPr>
        <dsp:cNvPr id="0" name=""/>
        <dsp:cNvSpPr/>
      </dsp:nvSpPr>
      <dsp:spPr>
        <a:xfrm>
          <a:off x="6786296" y="1647443"/>
          <a:ext cx="1614544" cy="1876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Employees consistently rated themselves higher than managers, highlighting a potential calibration gap.</a:t>
          </a:r>
          <a:endParaRPr lang="en-GB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 dirty="0"/>
        </a:p>
      </dsp:txBody>
      <dsp:txXfrm>
        <a:off x="6833584" y="1694731"/>
        <a:ext cx="1519968" cy="1782332"/>
      </dsp:txXfrm>
    </dsp:sp>
    <dsp:sp modelId="{5EA7FCE3-45B8-4826-BA28-6BEFB96B7A50}">
      <dsp:nvSpPr>
        <dsp:cNvPr id="0" name=""/>
        <dsp:cNvSpPr/>
      </dsp:nvSpPr>
      <dsp:spPr>
        <a:xfrm>
          <a:off x="8562295" y="2385694"/>
          <a:ext cx="342283" cy="40040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8562295" y="2465775"/>
        <a:ext cx="239598" cy="240245"/>
      </dsp:txXfrm>
    </dsp:sp>
    <dsp:sp modelId="{431D0867-226D-4A5A-BE47-8070C878B5BE}">
      <dsp:nvSpPr>
        <dsp:cNvPr id="0" name=""/>
        <dsp:cNvSpPr/>
      </dsp:nvSpPr>
      <dsp:spPr>
        <a:xfrm>
          <a:off x="9046659" y="1647443"/>
          <a:ext cx="1614544" cy="18769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Burnout risk was strongly correlated with overtime hours, identifying a clear wellbeing intervention target.</a:t>
          </a:r>
          <a:endParaRPr lang="en-GB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9093947" y="1694731"/>
        <a:ext cx="1519968" cy="17823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FF4CF5-9C69-4EAE-9962-CC0F4C3831CD}">
      <dsp:nvSpPr>
        <dsp:cNvPr id="0" name=""/>
        <dsp:cNvSpPr/>
      </dsp:nvSpPr>
      <dsp:spPr>
        <a:xfrm>
          <a:off x="10411" y="0"/>
          <a:ext cx="1612968" cy="533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Requires targeted retention strategies</a:t>
          </a:r>
          <a:endParaRPr lang="en-GB" sz="9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6034" y="15623"/>
        <a:ext cx="1581722" cy="502154"/>
      </dsp:txXfrm>
    </dsp:sp>
    <dsp:sp modelId="{C9C950CA-5CBC-47B7-8117-A4B602C11209}">
      <dsp:nvSpPr>
        <dsp:cNvPr id="0" name=""/>
        <dsp:cNvSpPr/>
      </dsp:nvSpPr>
      <dsp:spPr>
        <a:xfrm>
          <a:off x="1784676" y="66691"/>
          <a:ext cx="341949" cy="4000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 dirty="0"/>
        </a:p>
      </dsp:txBody>
      <dsp:txXfrm>
        <a:off x="1784676" y="146694"/>
        <a:ext cx="239364" cy="240010"/>
      </dsp:txXfrm>
    </dsp:sp>
    <dsp:sp modelId="{49430373-A5F1-41D4-9DBC-0FC8BAB86361}">
      <dsp:nvSpPr>
        <dsp:cNvPr id="0" name=""/>
        <dsp:cNvSpPr/>
      </dsp:nvSpPr>
      <dsp:spPr>
        <a:xfrm>
          <a:off x="2268566" y="0"/>
          <a:ext cx="1612968" cy="533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Younger Employees - Elevated Turnover Risk</a:t>
          </a:r>
          <a:endParaRPr lang="en-GB" sz="125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284189" y="15623"/>
        <a:ext cx="1581722" cy="502154"/>
      </dsp:txXfrm>
    </dsp:sp>
    <dsp:sp modelId="{1F804354-4C85-40A3-A994-3B008799EB5E}">
      <dsp:nvSpPr>
        <dsp:cNvPr id="0" name=""/>
        <dsp:cNvSpPr/>
      </dsp:nvSpPr>
      <dsp:spPr>
        <a:xfrm>
          <a:off x="4042831" y="66691"/>
          <a:ext cx="341949" cy="4000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 dirty="0"/>
        </a:p>
      </dsp:txBody>
      <dsp:txXfrm>
        <a:off x="4042831" y="146694"/>
        <a:ext cx="239364" cy="240010"/>
      </dsp:txXfrm>
    </dsp:sp>
    <dsp:sp modelId="{3E2CCC59-66A8-42C6-8C2B-6657B5C216A2}">
      <dsp:nvSpPr>
        <dsp:cNvPr id="0" name=""/>
        <dsp:cNvSpPr/>
      </dsp:nvSpPr>
      <dsp:spPr>
        <a:xfrm>
          <a:off x="4526721" y="0"/>
          <a:ext cx="1612968" cy="533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Technology Teams - Stronger Engagement</a:t>
          </a:r>
        </a:p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 dirty="0"/>
        </a:p>
      </dsp:txBody>
      <dsp:txXfrm>
        <a:off x="4542344" y="15623"/>
        <a:ext cx="1581722" cy="502154"/>
      </dsp:txXfrm>
    </dsp:sp>
    <dsp:sp modelId="{83380F77-ADF6-4830-A2E2-1D2760B5E48A}">
      <dsp:nvSpPr>
        <dsp:cNvPr id="0" name=""/>
        <dsp:cNvSpPr/>
      </dsp:nvSpPr>
      <dsp:spPr>
        <a:xfrm>
          <a:off x="6300986" y="66691"/>
          <a:ext cx="341949" cy="4000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6300986" y="146694"/>
        <a:ext cx="239364" cy="240010"/>
      </dsp:txXfrm>
    </dsp:sp>
    <dsp:sp modelId="{C570337D-A4D2-4979-A6AB-AE5524C966A6}">
      <dsp:nvSpPr>
        <dsp:cNvPr id="0" name=""/>
        <dsp:cNvSpPr/>
      </dsp:nvSpPr>
      <dsp:spPr>
        <a:xfrm>
          <a:off x="6784877" y="0"/>
          <a:ext cx="1612968" cy="533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5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Self-Ratings Exceed Manager Ratings</a:t>
          </a:r>
        </a:p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5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800500" y="15623"/>
        <a:ext cx="1581722" cy="502154"/>
      </dsp:txXfrm>
    </dsp:sp>
    <dsp:sp modelId="{C0941367-56C7-4E37-B159-DDF9CE89FEF8}">
      <dsp:nvSpPr>
        <dsp:cNvPr id="0" name=""/>
        <dsp:cNvSpPr/>
      </dsp:nvSpPr>
      <dsp:spPr>
        <a:xfrm>
          <a:off x="8559142" y="66691"/>
          <a:ext cx="341949" cy="40001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/>
        </a:p>
      </dsp:txBody>
      <dsp:txXfrm>
        <a:off x="8559142" y="146694"/>
        <a:ext cx="239364" cy="240010"/>
      </dsp:txXfrm>
    </dsp:sp>
    <dsp:sp modelId="{992FB4B4-0677-47AE-A079-6F5D7EFFD471}">
      <dsp:nvSpPr>
        <dsp:cNvPr id="0" name=""/>
        <dsp:cNvSpPr/>
      </dsp:nvSpPr>
      <dsp:spPr>
        <a:xfrm>
          <a:off x="9043032" y="0"/>
          <a:ext cx="1612968" cy="53340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5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Burnout Concentrated in Overtime Groups</a:t>
          </a:r>
          <a:endParaRPr lang="en-GB" sz="125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0" lvl="0" indent="0" algn="ctr" defTabSz="5556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 dirty="0"/>
        </a:p>
      </dsp:txBody>
      <dsp:txXfrm>
        <a:off x="9058655" y="15623"/>
        <a:ext cx="1581722" cy="502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D43CA4-972A-4351-8324-47909682D189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D46F67-5561-48F8-97F1-F6AB5807D5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036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D46F67-5561-48F8-97F1-F6AB5807D56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052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514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157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29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15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5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5550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4926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331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6253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021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7645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555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802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6652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702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078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F80B56-F26B-4616-978A-ED2748FC70AE}" type="datetimeFigureOut">
              <a:rPr lang="en-GB" smtClean="0"/>
              <a:t>29/06/2026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917D938-FCCA-4611-B714-42CE0642870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398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63AE-B744-C741-B9BB-11D9DB440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1122362"/>
            <a:ext cx="11440886" cy="1555523"/>
          </a:xfrm>
        </p:spPr>
        <p:txBody>
          <a:bodyPr>
            <a:normAutofit fontScale="90000"/>
          </a:bodyPr>
          <a:lstStyle/>
          <a:p>
            <a:r>
              <a:rPr lang="en-GB" sz="80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Attrition Analysis </a:t>
            </a:r>
            <a:endParaRPr lang="en-GB" sz="8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A523C-9836-67FD-D603-AD8ED05EE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5657" y="3242809"/>
            <a:ext cx="9912646" cy="1655762"/>
          </a:xfrm>
        </p:spPr>
        <p:txBody>
          <a:bodyPr/>
          <a:lstStyle/>
          <a:p>
            <a:r>
              <a:rPr lang="en-US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Analysing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workforce attrition, performance, engagement and wellbeing using Power BI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0216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D9D9F-0228-C8FE-808D-47B094E6E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0674" y="624110"/>
            <a:ext cx="9723937" cy="1280890"/>
          </a:xfrm>
        </p:spPr>
        <p:txBody>
          <a:bodyPr>
            <a:noAutofit/>
          </a:bodyPr>
          <a:lstStyle/>
          <a:p>
            <a:r>
              <a:rPr lang="en-GB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Overview</a:t>
            </a:r>
            <a:br>
              <a:rPr lang="en-GB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6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90090-A78A-E6E4-81E1-039DC61AAB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1166" y="2586424"/>
            <a:ext cx="4508634" cy="1657803"/>
          </a:xfrm>
        </p:spPr>
        <p:txBody>
          <a:bodyPr/>
          <a:lstStyle/>
          <a:p>
            <a:pPr marL="0" indent="0">
              <a:buNone/>
            </a:pPr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Analytical Reporting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Transforming raw data into structured, meaningful reports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B6A84-31F6-2348-99D8-C8C05F797A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45166" y="2586424"/>
            <a:ext cx="4508634" cy="1657803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Development</a:t>
            </a:r>
          </a:p>
          <a:p>
            <a:pPr marL="0" indent="0">
              <a:buNone/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 interactive, insight-rich dashboards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ADD617-7A59-2035-C390-43D510F9B703}"/>
              </a:ext>
            </a:extLst>
          </p:cNvPr>
          <p:cNvSpPr txBox="1"/>
          <p:nvPr/>
        </p:nvSpPr>
        <p:spPr>
          <a:xfrm>
            <a:off x="1780674" y="1559063"/>
            <a:ext cx="98755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was designed to demonstrate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analytical reporting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dashboard development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stakeholder-focused insight generation,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 directly aligned with the competencies required for the HMRC Evaluation Technician Support role.</a:t>
            </a:r>
          </a:p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05CC7D-9F24-10CB-A5A3-5BEE2F259F85}"/>
              </a:ext>
            </a:extLst>
          </p:cNvPr>
          <p:cNvSpPr txBox="1">
            <a:spLocks/>
          </p:cNvSpPr>
          <p:nvPr/>
        </p:nvSpPr>
        <p:spPr>
          <a:xfrm>
            <a:off x="1511166" y="4098609"/>
            <a:ext cx="9842633" cy="1657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Stakeholder Focus</a:t>
            </a:r>
          </a:p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Delivering clear, actionable insights for decision-makers</a:t>
            </a:r>
          </a:p>
        </p:txBody>
      </p:sp>
    </p:spTree>
    <p:extLst>
      <p:ext uri="{BB962C8B-B14F-4D97-AF65-F5344CB8AC3E}">
        <p14:creationId xmlns:p14="http://schemas.microsoft.com/office/powerpoint/2010/main" val="235460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B8F7D-4A9A-6E53-A0A5-EACAA8C32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Objective</a:t>
            </a:r>
            <a:b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A110A-FCBF-6173-14F5-DD2D1A8A87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12808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core aim was to transform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HR data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into clear, actionable business insights, enabling informed workforce decision-making across four critical areas.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dashboard was designed to support data-driven HR decision-making by transforming workforce data into clear analytical insights.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E5F18F0-8B72-ADF0-6710-46A7CE2D0D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4822602"/>
              </p:ext>
            </p:extLst>
          </p:nvPr>
        </p:nvGraphicFramePr>
        <p:xfrm>
          <a:off x="838200" y="2015066"/>
          <a:ext cx="105156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3039ACF-EE54-4B3E-D086-1FDF81D7600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2968500"/>
              </p:ext>
            </p:extLst>
          </p:nvPr>
        </p:nvGraphicFramePr>
        <p:xfrm>
          <a:off x="838200" y="3429000"/>
          <a:ext cx="10515600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62707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8990A-1D01-71E2-7542-34C2AF63C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798" y="624110"/>
            <a:ext cx="9752813" cy="1280890"/>
          </a:xfrm>
        </p:spPr>
        <p:txBody>
          <a:bodyPr>
            <a:noAutofit/>
          </a:bodyPr>
          <a:lstStyle/>
          <a:p>
            <a: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Tools &amp; Skills Used</a:t>
            </a:r>
            <a:b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5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BB934-6CFA-3D3F-2E1C-08B389B70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19300" y="2548890"/>
            <a:ext cx="3977640" cy="981589"/>
          </a:xfrm>
        </p:spPr>
        <p:txBody>
          <a:bodyPr>
            <a:noAutofit/>
          </a:bodyPr>
          <a:lstStyle/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dashboard development and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visualisation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E8F0B-C652-B4B8-7693-E00D941890F9}"/>
              </a:ext>
            </a:extLst>
          </p:cNvPr>
          <p:cNvSpPr txBox="1"/>
          <p:nvPr/>
        </p:nvSpPr>
        <p:spPr>
          <a:xfrm>
            <a:off x="1751797" y="1572322"/>
            <a:ext cx="1016427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comprehensive toolkit was applied to deliver end-to-end analytical reporting, from data extraction and transformation through to insight generation and stakeholder-ready presentation.</a:t>
            </a:r>
            <a:endParaRPr lang="en-GB" sz="20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F34E57B-669D-2E4B-5A29-76893649C52B}"/>
              </a:ext>
            </a:extLst>
          </p:cNvPr>
          <p:cNvSpPr txBox="1">
            <a:spLocks/>
          </p:cNvSpPr>
          <p:nvPr/>
        </p:nvSpPr>
        <p:spPr>
          <a:xfrm>
            <a:off x="2019300" y="3741419"/>
            <a:ext cx="3977640" cy="9815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 Measures</a:t>
            </a:r>
          </a:p>
          <a:p>
            <a:pPr marL="0" indent="0">
              <a:buNone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 calculations and advanced analytical logic</a:t>
            </a: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D8654CF-020D-6A35-93A7-0954F3B55500}"/>
              </a:ext>
            </a:extLst>
          </p:cNvPr>
          <p:cNvSpPr txBox="1">
            <a:spLocks/>
          </p:cNvSpPr>
          <p:nvPr/>
        </p:nvSpPr>
        <p:spPr>
          <a:xfrm>
            <a:off x="2019300" y="4794883"/>
            <a:ext cx="3977640" cy="9815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Dashboard Design</a:t>
            </a:r>
          </a:p>
          <a:p>
            <a:pPr marL="0" indent="0">
              <a:buNone/>
            </a:pPr>
            <a:r>
              <a:rPr lang="en-GB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UX-focused, stakeholder-ready report layouts</a:t>
            </a: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74773F-9190-B9FB-4477-92BF44E90167}"/>
              </a:ext>
            </a:extLst>
          </p:cNvPr>
          <p:cNvSpPr txBox="1">
            <a:spLocks/>
          </p:cNvSpPr>
          <p:nvPr/>
        </p:nvSpPr>
        <p:spPr>
          <a:xfrm>
            <a:off x="6652260" y="4933950"/>
            <a:ext cx="3977640" cy="9815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Storytelling</a:t>
            </a:r>
          </a:p>
          <a:p>
            <a:pPr marL="0" indent="0">
              <a:buNone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Translating metrics into clear business narratives</a:t>
            </a:r>
            <a:endParaRPr lang="en-GB" sz="19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154EC9D-56CC-95EC-0B93-75BAFA91C8D1}"/>
              </a:ext>
            </a:extLst>
          </p:cNvPr>
          <p:cNvSpPr txBox="1">
            <a:spLocks/>
          </p:cNvSpPr>
          <p:nvPr/>
        </p:nvSpPr>
        <p:spPr>
          <a:xfrm>
            <a:off x="6652260" y="2548890"/>
            <a:ext cx="3977640" cy="9815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Query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extraction, cleaning, and transformation</a:t>
            </a:r>
          </a:p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431C1EC-160F-FA4F-887E-2A817F1297F6}"/>
              </a:ext>
            </a:extLst>
          </p:cNvPr>
          <p:cNvSpPr txBox="1">
            <a:spLocks/>
          </p:cNvSpPr>
          <p:nvPr/>
        </p:nvSpPr>
        <p:spPr>
          <a:xfrm>
            <a:off x="6652260" y="3741420"/>
            <a:ext cx="3977640" cy="9815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Modelling</a:t>
            </a:r>
          </a:p>
          <a:p>
            <a:pPr marL="0" indent="0">
              <a:buNone/>
            </a:pP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Relational schema design and data integrity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5E21E09-0E0F-416E-57F1-F34D7E1DD614}"/>
              </a:ext>
            </a:extLst>
          </p:cNvPr>
          <p:cNvGrpSpPr/>
          <p:nvPr/>
        </p:nvGrpSpPr>
        <p:grpSpPr>
          <a:xfrm>
            <a:off x="3469695" y="2494262"/>
            <a:ext cx="5665863" cy="2709989"/>
            <a:chOff x="3469695" y="2494262"/>
            <a:chExt cx="5665863" cy="270998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ECDD146-C157-D249-6DC6-DB790B545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69695" y="2494262"/>
              <a:ext cx="358950" cy="358950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B4B0FFEA-3D39-16B5-2B86-7F8823BBF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2913" y="3669544"/>
              <a:ext cx="358950" cy="358950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E09E5C7-6225-2C17-8300-0B03A2920C9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776608" y="3669544"/>
              <a:ext cx="358950" cy="358950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02DCC922-80A3-C743-579B-AA72D0AFC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441863" y="4723008"/>
              <a:ext cx="355428" cy="355428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2502C73C-0BC7-8DDB-A66C-0EBFCF6F8E9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80130" y="4848823"/>
              <a:ext cx="355428" cy="355428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E8BED33-EF47-B8D5-2E5A-73C47180B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30338" y="2548890"/>
              <a:ext cx="355428" cy="3554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833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F178C-1730-A6A2-6066-71B58BEB8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Technical Approach</a:t>
            </a:r>
            <a:b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5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CB391-0AC2-27CE-318F-A294E9B57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cleaned and transformed using Power Query</a:t>
            </a:r>
          </a:p>
          <a:p>
            <a:pPr marL="0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formatting corrected using locale conversion (UK format)</a:t>
            </a:r>
          </a:p>
          <a:p>
            <a:pPr marL="0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Relationships created between employee and performance tables</a:t>
            </a:r>
          </a:p>
          <a:p>
            <a:pPr marL="0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 table developed for trend and time-intelligence reporting</a:t>
            </a:r>
          </a:p>
          <a:p>
            <a:pPr marL="0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DAX measures created for attrition rate, burnout risk, satisfaction scores and performance KPIs</a:t>
            </a:r>
          </a:p>
          <a:p>
            <a:pPr marL="0">
              <a:spcBef>
                <a:spcPts val="600"/>
              </a:spcBef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slicers and drill-down visuals implemented for stakeholder usability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712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1966E-D050-AA30-DAF9-0E24E7DAA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547" y="624110"/>
            <a:ext cx="10318281" cy="1280890"/>
          </a:xfrm>
        </p:spPr>
        <p:txBody>
          <a:bodyPr>
            <a:noAutofit/>
          </a:bodyPr>
          <a:lstStyle/>
          <a:p>
            <a: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Executive Summary Dashboard</a:t>
            </a:r>
            <a:b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5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76938B6-A96C-A8DD-B629-65831E8CAC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37311" y="2571750"/>
            <a:ext cx="6929184" cy="347472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99F6F-6B16-DB66-25B4-C5EDAA350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2547" y="1703672"/>
            <a:ext cx="10318281" cy="770021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Executive Summary Dashboard provides a high-level workforce overview at a glance, surfacing the most critical HR metrics for senior stakeholders without requiring deep technical navigation.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210A9B8-6CC6-28C2-C611-19E002E3495C}"/>
              </a:ext>
            </a:extLst>
          </p:cNvPr>
          <p:cNvSpPr txBox="1">
            <a:spLocks/>
          </p:cNvSpPr>
          <p:nvPr/>
        </p:nvSpPr>
        <p:spPr>
          <a:xfrm>
            <a:off x="8516754" y="2396691"/>
            <a:ext cx="3784333" cy="1134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Overview</a:t>
            </a:r>
          </a:p>
          <a:p>
            <a:pPr marL="0" indent="0">
              <a:buNone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Organisation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-wide turnover rates and trends</a:t>
            </a: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9EAF5C2-B28B-605B-7A1D-C7DC352977DE}"/>
              </a:ext>
            </a:extLst>
          </p:cNvPr>
          <p:cNvSpPr txBox="1">
            <a:spLocks/>
          </p:cNvSpPr>
          <p:nvPr/>
        </p:nvSpPr>
        <p:spPr>
          <a:xfrm>
            <a:off x="8516754" y="3553255"/>
            <a:ext cx="3784333" cy="1134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Manager Ratings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Aggregate performance scoring by department</a:t>
            </a: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B954ABD-6A37-E4B9-9085-63FE98187BB7}"/>
              </a:ext>
            </a:extLst>
          </p:cNvPr>
          <p:cNvSpPr txBox="1">
            <a:spLocks/>
          </p:cNvSpPr>
          <p:nvPr/>
        </p:nvSpPr>
        <p:spPr>
          <a:xfrm>
            <a:off x="8516754" y="4709819"/>
            <a:ext cx="3784333" cy="11349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Satisfaction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wellbeing and engagement indicators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483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A62B4-A252-CF4A-1DB4-6276EDCD5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8E46F-87C8-3B95-19A5-B3C46AA05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547" y="624110"/>
            <a:ext cx="10770670" cy="1079562"/>
          </a:xfrm>
        </p:spPr>
        <p:txBody>
          <a:bodyPr>
            <a:noAutofit/>
          </a:bodyPr>
          <a:lstStyle/>
          <a:p>
            <a: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Attrition Analysis Dashboard</a:t>
            </a:r>
            <a:b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5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1236A6-E28E-15C7-CFB7-96BB26F5023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1374" y="2473693"/>
            <a:ext cx="6672516" cy="40528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20834-78EE-522C-BE1E-C5C6B7F57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2547" y="1703672"/>
            <a:ext cx="10318281" cy="770021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dashboard focuses on identifying turnover patterns and isolating the employee segments most at risk of leaving, enabling proactive retention strategies.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0495037-D273-1948-7697-DA57482BEB59}"/>
              </a:ext>
            </a:extLst>
          </p:cNvPr>
          <p:cNvSpPr txBox="1">
            <a:spLocks/>
          </p:cNvSpPr>
          <p:nvPr/>
        </p:nvSpPr>
        <p:spPr>
          <a:xfrm>
            <a:off x="8516755" y="2396691"/>
            <a:ext cx="3675246" cy="1079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Overtime Risk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between overtime hours and attrition likelihood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0AA48C2-4DA1-FCF7-F5BB-B06CB73C143F}"/>
              </a:ext>
            </a:extLst>
          </p:cNvPr>
          <p:cNvSpPr txBox="1">
            <a:spLocks/>
          </p:cNvSpPr>
          <p:nvPr/>
        </p:nvSpPr>
        <p:spPr>
          <a:xfrm>
            <a:off x="8516755" y="3487412"/>
            <a:ext cx="3675246" cy="1079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High-Risk Employees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Profiles flagged for elevated turnover probability</a:t>
            </a: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3ABB8BC2-D86C-AEA2-AAE2-AF3DDEE8342D}"/>
              </a:ext>
            </a:extLst>
          </p:cNvPr>
          <p:cNvSpPr txBox="1">
            <a:spLocks/>
          </p:cNvSpPr>
          <p:nvPr/>
        </p:nvSpPr>
        <p:spPr>
          <a:xfrm>
            <a:off x="8516755" y="4566976"/>
            <a:ext cx="3675246" cy="1079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Age-Group Attrition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Turnover rates segmented by employee age bands</a:t>
            </a: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49B7EEB-1100-DC0F-6654-88305DEEE842}"/>
              </a:ext>
            </a:extLst>
          </p:cNvPr>
          <p:cNvSpPr txBox="1">
            <a:spLocks/>
          </p:cNvSpPr>
          <p:nvPr/>
        </p:nvSpPr>
        <p:spPr>
          <a:xfrm>
            <a:off x="8516755" y="5646540"/>
            <a:ext cx="3675246" cy="1079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Root Cause Analysis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factors influencing employee departure decisions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0804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2E38F-D9BD-20F8-068A-F72F26E0E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4DED0-2B5C-72D5-47A6-AD3832847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547" y="624110"/>
            <a:ext cx="10770670" cy="1079562"/>
          </a:xfrm>
        </p:spPr>
        <p:txBody>
          <a:bodyPr>
            <a:noAutofit/>
          </a:bodyPr>
          <a:lstStyle/>
          <a:p>
            <a: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Performance Insights Dashboard</a:t>
            </a:r>
            <a:b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5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2549EA-11EC-0B90-7A93-39C5A0D56B4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8750" y="2473693"/>
            <a:ext cx="6946832" cy="397282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B48F3-1B8A-FB6C-D5BD-9A86A37D3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2547" y="1703672"/>
            <a:ext cx="10318281" cy="770021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Performance Insights Dashboard analyses employee output, training effectiveness, and rating discrepancies, providing a multi-dimensional view of workforce capability.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ED2D37A4-0E01-7A2D-AF97-203CB5E51FE1}"/>
              </a:ext>
            </a:extLst>
          </p:cNvPr>
          <p:cNvSpPr txBox="1">
            <a:spLocks/>
          </p:cNvSpPr>
          <p:nvPr/>
        </p:nvSpPr>
        <p:spPr>
          <a:xfrm>
            <a:off x="8516755" y="2396691"/>
            <a:ext cx="3675246" cy="1079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Performance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Role-level and departmental performance distribution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0D7A384-0BC8-F7AA-8FE4-06A704A9DBE2}"/>
              </a:ext>
            </a:extLst>
          </p:cNvPr>
          <p:cNvSpPr txBox="1">
            <a:spLocks/>
          </p:cNvSpPr>
          <p:nvPr/>
        </p:nvSpPr>
        <p:spPr>
          <a:xfrm>
            <a:off x="8516755" y="3487412"/>
            <a:ext cx="3675246" cy="1079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Impact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Measuring the effect of training on performance scores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F41ECED8-C832-DA69-A8C8-F9551ADFBAF3}"/>
              </a:ext>
            </a:extLst>
          </p:cNvPr>
          <p:cNvSpPr txBox="1">
            <a:spLocks/>
          </p:cNvSpPr>
          <p:nvPr/>
        </p:nvSpPr>
        <p:spPr>
          <a:xfrm>
            <a:off x="8516755" y="4566976"/>
            <a:ext cx="3675246" cy="1079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Manager vs Self-Ratings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Identifying perception gaps between employees and managers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E90845C-0A7F-0C9D-9D29-0456ADBCAA83}"/>
              </a:ext>
            </a:extLst>
          </p:cNvPr>
          <p:cNvSpPr txBox="1">
            <a:spLocks/>
          </p:cNvSpPr>
          <p:nvPr/>
        </p:nvSpPr>
        <p:spPr>
          <a:xfrm>
            <a:off x="8516755" y="5646540"/>
            <a:ext cx="3675246" cy="1079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Top-Performing Roles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Job functions with the strongest aggregate performance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734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77FDA-E525-F5C3-06DF-A233F581D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0EAA9-3DD2-62F3-A955-254190A0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547" y="624110"/>
            <a:ext cx="11165306" cy="1079562"/>
          </a:xfrm>
        </p:spPr>
        <p:txBody>
          <a:bodyPr>
            <a:noAutofit/>
          </a:bodyPr>
          <a:lstStyle/>
          <a:p>
            <a: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Engagement Dashboard</a:t>
            </a:r>
            <a:b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5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F6B5FFE-9AFB-1837-E3CB-D26915868C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7320" y="2473693"/>
            <a:ext cx="6958262" cy="392710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49B2E7-0B98-E660-F2EB-805E28404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2547" y="1703672"/>
            <a:ext cx="10318281" cy="770021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dashboard focuses on the human side of workforce analytics - measuring wellbeing, burnout risk, and the environmental factors that drive or diminish engagement.</a:t>
            </a: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25D1548D-8EDA-7394-70C1-DF268826DC3B}"/>
              </a:ext>
            </a:extLst>
          </p:cNvPr>
          <p:cNvSpPr txBox="1">
            <a:spLocks/>
          </p:cNvSpPr>
          <p:nvPr/>
        </p:nvSpPr>
        <p:spPr>
          <a:xfrm>
            <a:off x="8516755" y="2396691"/>
            <a:ext cx="3675246" cy="1079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Burnout Risk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Employees flagged for elevated stress and fatigue levels</a:t>
            </a:r>
          </a:p>
          <a:p>
            <a:pPr marL="0" indent="0"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B546D06-28F4-CD6F-B654-AB1D301FF4C4}"/>
              </a:ext>
            </a:extLst>
          </p:cNvPr>
          <p:cNvSpPr txBox="1">
            <a:spLocks/>
          </p:cNvSpPr>
          <p:nvPr/>
        </p:nvSpPr>
        <p:spPr>
          <a:xfrm>
            <a:off x="8516755" y="3476255"/>
            <a:ext cx="3675246" cy="1079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Work-Life Balance</a:t>
            </a:r>
          </a:p>
          <a:p>
            <a:pPr marL="0" indent="0"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Satisfaction scores across working hours and flexibility</a:t>
            </a:r>
          </a:p>
          <a:p>
            <a:pPr marL="0" indent="0">
              <a:buNone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32F1C23D-BEDB-CC4B-824C-07B1D1CDEB54}"/>
              </a:ext>
            </a:extLst>
          </p:cNvPr>
          <p:cNvSpPr txBox="1">
            <a:spLocks/>
          </p:cNvSpPr>
          <p:nvPr/>
        </p:nvSpPr>
        <p:spPr>
          <a:xfrm>
            <a:off x="8516755" y="4555819"/>
            <a:ext cx="3675246" cy="1079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 Satisfaction</a:t>
            </a:r>
          </a:p>
          <a:p>
            <a:pPr marL="0" indent="0">
              <a:buNone/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Workplace conditions and cultural 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746961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E517E-23C7-85D8-8B6A-FACEF8F6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CF148-DCDD-014A-A8C1-04525EAF5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2174" y="624110"/>
            <a:ext cx="9762438" cy="1280890"/>
          </a:xfrm>
        </p:spPr>
        <p:txBody>
          <a:bodyPr>
            <a:normAutofit fontScale="90000"/>
          </a:bodyPr>
          <a:lstStyle/>
          <a:p>
            <a:r>
              <a:rPr lang="en-GB" sz="6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Business Insights</a:t>
            </a:r>
            <a:br>
              <a:rPr lang="en-GB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9329A-DCFF-0A48-D262-A1A218BC8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515600" cy="91757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Analysis across all four dashboards revealed consistent, actionable patterns, each directly informing workforce strategy and retention priorities.</a:t>
            </a:r>
            <a:endParaRPr lang="en-GB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GB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01C43DEA-5ABF-2B65-3861-5015D4B8B3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7424836"/>
              </p:ext>
            </p:extLst>
          </p:nvPr>
        </p:nvGraphicFramePr>
        <p:xfrm>
          <a:off x="838200" y="2261938"/>
          <a:ext cx="10666412" cy="51717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49587B0-CE8C-D918-CD66-A52FED7E27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213759"/>
              </p:ext>
            </p:extLst>
          </p:nvPr>
        </p:nvGraphicFramePr>
        <p:xfrm>
          <a:off x="838200" y="3429000"/>
          <a:ext cx="10666412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65691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245FB-8B5B-495A-48C7-FC416B2D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5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6983F0-000C-A0F0-DEA3-D9E3F9868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demonstrates the ability to combine analytical thinking, Power BI reporting, and stakeholder-focused storytelling to support evidence-based workforce decision-making.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789413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172</TotalTime>
  <Words>686</Words>
  <Application>Microsoft Office PowerPoint</Application>
  <PresentationFormat>Widescreen</PresentationFormat>
  <Paragraphs>94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Century Gothic</vt:lpstr>
      <vt:lpstr>Wingdings 3</vt:lpstr>
      <vt:lpstr>Wisp</vt:lpstr>
      <vt:lpstr>Employee Attrition Analysis </vt:lpstr>
      <vt:lpstr>Project Overview </vt:lpstr>
      <vt:lpstr>Business Objective </vt:lpstr>
      <vt:lpstr>Tools &amp; Skills Used </vt:lpstr>
      <vt:lpstr>Technical Approach </vt:lpstr>
      <vt:lpstr>Executive Summary Dashboard </vt:lpstr>
      <vt:lpstr>Attrition Analysis Dashboard  </vt:lpstr>
      <vt:lpstr>Performance Insights Dashboard   </vt:lpstr>
      <vt:lpstr>Employee Engagement Dashboard    </vt:lpstr>
      <vt:lpstr>Key Business Insights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Aravindh Ravi</dc:creator>
  <cp:lastModifiedBy>Aravindh Ravi</cp:lastModifiedBy>
  <cp:revision>6</cp:revision>
  <dcterms:created xsi:type="dcterms:W3CDTF">2026-05-26T20:58:54Z</dcterms:created>
  <dcterms:modified xsi:type="dcterms:W3CDTF">2026-06-29T12:08:35Z</dcterms:modified>
</cp:coreProperties>
</file>